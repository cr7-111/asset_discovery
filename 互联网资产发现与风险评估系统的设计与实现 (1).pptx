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8" Type="http://schemas.openxmlformats.org/officeDocument/2006/relationships/notesSlide" Target="../notesSlides/notesSlide5.xml"/><Relationship Id="rId47" Type="http://schemas.openxmlformats.org/officeDocument/2006/relationships/slideLayout" Target="../slideLayouts/slideLayout1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571500"/>
            <a:ext cx="1785938" cy="321469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8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毕业论文答辩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57213" y="1278731"/>
            <a:ext cx="4714875" cy="14658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3100" b="1" kern="0" spc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互联网资产发现与</a:t>
            </a:r>
            <a:r>
              <a:rPr lang="en-US" sz="3100" b="1" kern="0" spc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3100" b="1" kern="0" spc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风险评估系统的</a:t>
            </a:r>
            <a:r>
              <a:rPr lang="en-US" sz="3100" b="1" kern="0" spc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3100" b="1" kern="0" spc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设计与实现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57213" y="3100332"/>
            <a:ext cx="4714875" cy="2600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1" dirty="0">
                <a:solidFill>
                  <a:srgbClr val="1E88FF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Asset Discovery &amp; Risk Assessment System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57213" y="3760403"/>
            <a:ext cx="1357313" cy="400050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57213" y="3760403"/>
            <a:ext cx="1357313" cy="7144"/>
          </a:xfrm>
          <a:prstGeom prst="rect">
            <a:avLst/>
          </a:prstGeom>
          <a:solidFill>
            <a:srgbClr val="9AC9FF"/>
          </a:solidFill>
        </p:spPr>
      </p:sp>
      <p:sp>
        <p:nvSpPr>
          <p:cNvPr id="8" name="Shape 5"/>
          <p:cNvSpPr/>
          <p:nvPr/>
        </p:nvSpPr>
        <p:spPr>
          <a:xfrm>
            <a:off x="557213" y="4153309"/>
            <a:ext cx="1357313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9" name="Text 6"/>
          <p:cNvSpPr/>
          <p:nvPr/>
        </p:nvSpPr>
        <p:spPr>
          <a:xfrm>
            <a:off x="557213" y="3852796"/>
            <a:ext cx="1357313" cy="2152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答辩人：</a:t>
            </a:r>
            <a:r>
              <a:rPr lang="zh-CN" altLang="en-US" sz="14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林秋</a:t>
            </a:r>
            <a:endParaRPr lang="zh-CN" altLang="en-US" sz="1400" dirty="0">
              <a:solidFill>
                <a:srgbClr val="183B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028825" y="3760403"/>
            <a:ext cx="1571625" cy="400050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028825" y="3760403"/>
            <a:ext cx="1571625" cy="7144"/>
          </a:xfrm>
          <a:prstGeom prst="rect">
            <a:avLst/>
          </a:prstGeom>
          <a:solidFill>
            <a:srgbClr val="9AC9FF"/>
          </a:solidFill>
        </p:spPr>
      </p:sp>
      <p:sp>
        <p:nvSpPr>
          <p:cNvPr id="12" name="Shape 9"/>
          <p:cNvSpPr/>
          <p:nvPr/>
        </p:nvSpPr>
        <p:spPr>
          <a:xfrm>
            <a:off x="2028825" y="4153309"/>
            <a:ext cx="157162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13" name="Text 10"/>
          <p:cNvSpPr/>
          <p:nvPr/>
        </p:nvSpPr>
        <p:spPr>
          <a:xfrm>
            <a:off x="2028825" y="3852796"/>
            <a:ext cx="1571625" cy="2152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指导教师：</a:t>
            </a:r>
            <a:r>
              <a:rPr lang="zh-CN" altLang="en-US" sz="14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马修湖</a:t>
            </a:r>
            <a:endParaRPr lang="zh-CN" altLang="en-US" sz="1400" dirty="0">
              <a:solidFill>
                <a:srgbClr val="183B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14750" y="3760403"/>
            <a:ext cx="1500188" cy="400050"/>
          </a:xfrm>
          <a:prstGeom prst="rect">
            <a:avLst/>
          </a:prstGeom>
          <a:solidFill>
            <a:srgbClr val="EEF7FF">
              <a:alpha val="74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3714750" y="3760403"/>
            <a:ext cx="1500188" cy="7144"/>
          </a:xfrm>
          <a:prstGeom prst="rect">
            <a:avLst/>
          </a:prstGeom>
          <a:solidFill>
            <a:srgbClr val="9AC9FF"/>
          </a:solidFill>
        </p:spPr>
      </p:sp>
      <p:sp>
        <p:nvSpPr>
          <p:cNvPr id="16" name="Shape 13"/>
          <p:cNvSpPr/>
          <p:nvPr/>
        </p:nvSpPr>
        <p:spPr>
          <a:xfrm>
            <a:off x="3714750" y="4153309"/>
            <a:ext cx="1500188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17" name="Text 14"/>
          <p:cNvSpPr/>
          <p:nvPr/>
        </p:nvSpPr>
        <p:spPr>
          <a:xfrm>
            <a:off x="3714750" y="3852796"/>
            <a:ext cx="1500188" cy="2152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答辩日期：5.24</a:t>
            </a:r>
            <a:endParaRPr lang="en-US" sz="1400" dirty="0">
              <a:solidFill>
                <a:srgbClr val="183B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72150" y="1014413"/>
            <a:ext cx="2514600" cy="2514600"/>
          </a:xfrm>
          <a:prstGeom prst="ellipse">
            <a:avLst/>
          </a:prstGeom>
          <a:solidFill>
            <a:srgbClr val="FFFFFF">
              <a:alpha val="0"/>
            </a:srgbClr>
          </a:solidFill>
          <a:ln w="9144">
            <a:solidFill>
              <a:srgbClr val="1E88FF">
                <a:alpha val="4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72188" y="1314450"/>
            <a:ext cx="1900238" cy="1900238"/>
          </a:xfrm>
          <a:prstGeom prst="ellipse">
            <a:avLst/>
          </a:prstGeom>
          <a:solidFill>
            <a:srgbClr val="000000">
              <a:alpha val="0"/>
            </a:srgbClr>
          </a:solidFill>
          <a:ln w="9144">
            <a:solidFill>
              <a:srgbClr val="0A2A66">
                <a:alpha val="30000"/>
              </a:srgbClr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6557963" y="1800225"/>
            <a:ext cx="928688" cy="928688"/>
          </a:xfrm>
          <a:prstGeom prst="ellipse">
            <a:avLst/>
          </a:prstGeom>
          <a:solidFill>
            <a:srgbClr val="FFFFFF">
              <a:alpha val="55000"/>
            </a:srgbClr>
          </a:solidFill>
          <a:ln w="9144">
            <a:solidFill>
              <a:srgbClr val="1E88FF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72150" y="1014413"/>
            <a:ext cx="2514600" cy="2514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729288" y="3843338"/>
            <a:ext cx="2786063" cy="471488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729288" y="3843338"/>
            <a:ext cx="2786063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24" name="Shape 21"/>
          <p:cNvSpPr/>
          <p:nvPr/>
        </p:nvSpPr>
        <p:spPr>
          <a:xfrm>
            <a:off x="5729288" y="4307681"/>
            <a:ext cx="2786063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25" name="Text 22"/>
          <p:cNvSpPr/>
          <p:nvPr/>
        </p:nvSpPr>
        <p:spPr>
          <a:xfrm>
            <a:off x="5729288" y="3843338"/>
            <a:ext cx="2786063" cy="4714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kern="0" spc="3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ASSET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9721"/>
            <a:ext cx="364331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01 / BACKGROUND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37245"/>
            <a:ext cx="3643313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互联网暴露资产增长带来治理压力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408069" y="773311"/>
            <a:ext cx="1235869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ASSET VISIBILITY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243013"/>
            <a:ext cx="3000375" cy="2164556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243013"/>
            <a:ext cx="3000375" cy="14288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8" name="Shape 5"/>
          <p:cNvSpPr/>
          <p:nvPr/>
        </p:nvSpPr>
        <p:spPr>
          <a:xfrm>
            <a:off x="500063" y="3400425"/>
            <a:ext cx="3000375" cy="7144"/>
          </a:xfrm>
          <a:prstGeom prst="rect">
            <a:avLst/>
          </a:prstGeom>
          <a:solidFill>
            <a:srgbClr val="C0DEFF"/>
          </a:solidFill>
        </p:spPr>
      </p:sp>
      <p:sp>
        <p:nvSpPr>
          <p:cNvPr id="9" name="Text 6"/>
          <p:cNvSpPr/>
          <p:nvPr/>
        </p:nvSpPr>
        <p:spPr>
          <a:xfrm>
            <a:off x="742950" y="1439968"/>
            <a:ext cx="2428875" cy="9909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暴露面持续扩大，资产风险治理需要自动化闭环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2950" y="2588075"/>
            <a:ext cx="2357438" cy="601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互联网资产数量增加、形态复杂，外部入口变化快，传统人工盘点难以及时支撑安全运营。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57625" y="1243013"/>
            <a:ext cx="4786313" cy="628650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3857625" y="1243013"/>
            <a:ext cx="4786313" cy="7144"/>
          </a:xfrm>
          <a:prstGeom prst="rect">
            <a:avLst/>
          </a:prstGeom>
          <a:solidFill>
            <a:srgbClr val="A5CFFF"/>
          </a:solidFill>
        </p:spPr>
      </p:sp>
      <p:sp>
        <p:nvSpPr>
          <p:cNvPr id="13" name="Text 10"/>
          <p:cNvSpPr/>
          <p:nvPr/>
        </p:nvSpPr>
        <p:spPr>
          <a:xfrm>
            <a:off x="3857625" y="1401961"/>
            <a:ext cx="500063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57688" y="1358038"/>
            <a:ext cx="4286250" cy="3985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云计算、移动互联网和数字化业务发展，使互联网资产数量增加、形态更加复杂。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57625" y="2000250"/>
            <a:ext cx="4786313" cy="628650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857625" y="2000250"/>
            <a:ext cx="4786313" cy="7144"/>
          </a:xfrm>
          <a:prstGeom prst="rect">
            <a:avLst/>
          </a:prstGeom>
          <a:solidFill>
            <a:srgbClr val="A5CFFF"/>
          </a:solidFill>
        </p:spPr>
      </p:sp>
      <p:sp>
        <p:nvSpPr>
          <p:cNvPr id="17" name="Text 14"/>
          <p:cNvSpPr/>
          <p:nvPr/>
        </p:nvSpPr>
        <p:spPr>
          <a:xfrm>
            <a:off x="3857625" y="2159198"/>
            <a:ext cx="500063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57688" y="2214925"/>
            <a:ext cx="4286250" cy="1992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传统人工盘点难以及时发现新增资产、历史遗留服务与异常暴露入口。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57625" y="2757488"/>
            <a:ext cx="4786313" cy="628650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3857625" y="2757488"/>
            <a:ext cx="4786313" cy="7144"/>
          </a:xfrm>
          <a:prstGeom prst="rect">
            <a:avLst/>
          </a:prstGeom>
          <a:solidFill>
            <a:srgbClr val="A5CFFF"/>
          </a:solidFill>
        </p:spPr>
      </p:sp>
      <p:sp>
        <p:nvSpPr>
          <p:cNvPr id="21" name="Text 18"/>
          <p:cNvSpPr/>
          <p:nvPr/>
        </p:nvSpPr>
        <p:spPr>
          <a:xfrm>
            <a:off x="3857625" y="2916436"/>
            <a:ext cx="500063" cy="3107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57688" y="2872513"/>
            <a:ext cx="4286250" cy="3985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持续化资产发现与风险评估有助于提升安全运营效率，并降低外部攻击面风险。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0063" y="3729038"/>
            <a:ext cx="2581266" cy="642938"/>
          </a:xfrm>
          <a:prstGeom prst="rect">
            <a:avLst/>
          </a:prstGeom>
          <a:solidFill>
            <a:srgbClr val="EEF7FF">
              <a:alpha val="6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500063" y="3729038"/>
            <a:ext cx="2581266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25" name="Shape 22"/>
          <p:cNvSpPr/>
          <p:nvPr/>
        </p:nvSpPr>
        <p:spPr>
          <a:xfrm>
            <a:off x="500063" y="4364831"/>
            <a:ext cx="2581266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6" name="Text 23"/>
          <p:cNvSpPr/>
          <p:nvPr/>
        </p:nvSpPr>
        <p:spPr>
          <a:xfrm>
            <a:off x="1476356" y="3823692"/>
            <a:ext cx="561340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黑体" panose="02010609060101010101" charset="-122"/>
                <a:ea typeface="黑体" panose="02010609060101010101" charset="-122"/>
                <a:cs typeface="Noto Sans SC Bold" pitchFamily="34" charset="-120"/>
              </a:rPr>
              <a:t>资产可见</a:t>
            </a:r>
            <a:endParaRPr lang="en-US" sz="11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26350" y="4107656"/>
            <a:ext cx="728663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2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识别外部入口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281353" y="3729038"/>
            <a:ext cx="2581266" cy="642938"/>
          </a:xfrm>
          <a:prstGeom prst="rect">
            <a:avLst/>
          </a:prstGeom>
          <a:solidFill>
            <a:srgbClr val="EEF7FF">
              <a:alpha val="60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3281353" y="3729038"/>
            <a:ext cx="2581266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30" name="Shape 27"/>
          <p:cNvSpPr/>
          <p:nvPr/>
        </p:nvSpPr>
        <p:spPr>
          <a:xfrm>
            <a:off x="3281353" y="4364831"/>
            <a:ext cx="2581266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1" name="Text 28"/>
          <p:cNvSpPr/>
          <p:nvPr/>
        </p:nvSpPr>
        <p:spPr>
          <a:xfrm>
            <a:off x="4257647" y="3823692"/>
            <a:ext cx="561340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黑体" panose="02010609060101010101" charset="-122"/>
                <a:ea typeface="黑体" panose="02010609060101010101" charset="-122"/>
                <a:cs typeface="Noto Sans SC Bold" pitchFamily="34" charset="-120"/>
              </a:rPr>
              <a:t>暴露识别</a:t>
            </a:r>
            <a:endParaRPr lang="en-US" sz="11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268363" y="4107656"/>
            <a:ext cx="607219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2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定位风险点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062644" y="3729038"/>
            <a:ext cx="2581294" cy="642938"/>
          </a:xfrm>
          <a:prstGeom prst="rect">
            <a:avLst/>
          </a:prstGeom>
          <a:solidFill>
            <a:srgbClr val="EEF7FF">
              <a:alpha val="60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6062644" y="3729038"/>
            <a:ext cx="2581294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35" name="Shape 32"/>
          <p:cNvSpPr/>
          <p:nvPr/>
        </p:nvSpPr>
        <p:spPr>
          <a:xfrm>
            <a:off x="6062644" y="4364831"/>
            <a:ext cx="2581294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6" name="Text 33"/>
          <p:cNvSpPr/>
          <p:nvPr/>
        </p:nvSpPr>
        <p:spPr>
          <a:xfrm>
            <a:off x="7038966" y="3823692"/>
            <a:ext cx="561340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黑体" panose="02010609060101010101" charset="-122"/>
                <a:ea typeface="黑体" panose="02010609060101010101" charset="-122"/>
                <a:cs typeface="Noto Sans SC Bold" pitchFamily="34" charset="-120"/>
              </a:rPr>
              <a:t>风险收敛</a:t>
            </a:r>
            <a:endParaRPr lang="en-US" sz="11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988959" y="4107656"/>
            <a:ext cx="728663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2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支撑治理闭环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64009"/>
            <a:ext cx="3643313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02 / RESEARCH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51532"/>
            <a:ext cx="3643313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构建轻量化、可视化、可解释平台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211241" y="787598"/>
            <a:ext cx="4432697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DISCOVERY · MODELING · IMPLEMENTATION · VERIFICATION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200150"/>
            <a:ext cx="8143875" cy="600075"/>
          </a:xfrm>
          <a:prstGeom prst="rect">
            <a:avLst/>
          </a:prstGeom>
          <a:solidFill>
            <a:srgbClr val="EEF7FF">
              <a:alpha val="76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200150"/>
            <a:ext cx="814387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8" name="Shape 5"/>
          <p:cNvSpPr/>
          <p:nvPr/>
        </p:nvSpPr>
        <p:spPr>
          <a:xfrm>
            <a:off x="500063" y="1793081"/>
            <a:ext cx="814387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9" name="Text 6"/>
          <p:cNvSpPr/>
          <p:nvPr/>
        </p:nvSpPr>
        <p:spPr>
          <a:xfrm>
            <a:off x="500063" y="1379637"/>
            <a:ext cx="135731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研究目标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57375" y="1271588"/>
            <a:ext cx="6543675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围绕“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发现—建模—实现—验证</a:t>
            </a:r>
            <a:r>
              <a:rPr lang="en-US" sz="10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”展开，形成能够发现资产、识别风险、解释结果并支撑整改的系统闭</a:t>
            </a:r>
            <a:r>
              <a:rPr lang="en-US" sz="10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环。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0063" y="2071688"/>
            <a:ext cx="1918097" cy="214312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00063" y="2071688"/>
            <a:ext cx="1918097" cy="14288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13" name="Shape 10"/>
          <p:cNvSpPr/>
          <p:nvPr/>
        </p:nvSpPr>
        <p:spPr>
          <a:xfrm>
            <a:off x="500063" y="4207669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14" name="Text 11"/>
          <p:cNvSpPr/>
          <p:nvPr/>
        </p:nvSpPr>
        <p:spPr>
          <a:xfrm>
            <a:off x="657225" y="2214563"/>
            <a:ext cx="1760934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7225" y="2589609"/>
            <a:ext cx="1603772" cy="200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资产自动发现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7225" y="2918640"/>
            <a:ext cx="1603772" cy="5554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完成目标输入、主动探测、被动情报获取、多源融合、存活验证与资产入库。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7225" y="3807619"/>
            <a:ext cx="1500188" cy="250031"/>
          </a:xfrm>
          <a:prstGeom prst="rect">
            <a:avLst/>
          </a:prstGeom>
          <a:solidFill>
            <a:srgbClr val="EEF7FF">
              <a:alpha val="92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657225" y="3807619"/>
            <a:ext cx="1500188" cy="7144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19" name="Text 16"/>
          <p:cNvSpPr/>
          <p:nvPr/>
        </p:nvSpPr>
        <p:spPr>
          <a:xfrm>
            <a:off x="657225" y="3807619"/>
            <a:ext cx="1500188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94000"/>
              </a:lnSpc>
              <a:buNone/>
            </a:pPr>
            <a:r>
              <a:rPr lang="en-US" sz="70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域名 · 端口 · 服务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575322" y="2071688"/>
            <a:ext cx="1918097" cy="214312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2575322" y="2071688"/>
            <a:ext cx="1918097" cy="14288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22" name="Shape 19"/>
          <p:cNvSpPr/>
          <p:nvPr/>
        </p:nvSpPr>
        <p:spPr>
          <a:xfrm>
            <a:off x="2575322" y="4207669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23" name="Text 20"/>
          <p:cNvSpPr/>
          <p:nvPr/>
        </p:nvSpPr>
        <p:spPr>
          <a:xfrm>
            <a:off x="2732484" y="2214563"/>
            <a:ext cx="1760934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32484" y="2589609"/>
            <a:ext cx="1603772" cy="200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漏洞情报建模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732484" y="2918640"/>
            <a:ext cx="1603772" cy="5554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构建CVE文本特征，采用TF-IDF向量化并训练严重等级分类模型。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32484" y="3807619"/>
            <a:ext cx="1500188" cy="250031"/>
          </a:xfrm>
          <a:prstGeom prst="rect">
            <a:avLst/>
          </a:prstGeom>
          <a:solidFill>
            <a:srgbClr val="EEF7FF">
              <a:alpha val="92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2732484" y="3807619"/>
            <a:ext cx="1500188" cy="7144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28" name="Text 25"/>
          <p:cNvSpPr/>
          <p:nvPr/>
        </p:nvSpPr>
        <p:spPr>
          <a:xfrm>
            <a:off x="2732484" y="3807619"/>
            <a:ext cx="1500188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94000"/>
              </a:lnSpc>
              <a:buNone/>
            </a:pPr>
            <a:r>
              <a:rPr lang="en-US" sz="70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CVE · TF-IDF · 随机森林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650581" y="2071688"/>
            <a:ext cx="1918097" cy="214312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4650581" y="2071688"/>
            <a:ext cx="1918097" cy="14288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31" name="Shape 28"/>
          <p:cNvSpPr/>
          <p:nvPr/>
        </p:nvSpPr>
        <p:spPr>
          <a:xfrm>
            <a:off x="4650581" y="4207669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32" name="Text 29"/>
          <p:cNvSpPr/>
          <p:nvPr/>
        </p:nvSpPr>
        <p:spPr>
          <a:xfrm>
            <a:off x="4807744" y="2214563"/>
            <a:ext cx="1760934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07744" y="2589609"/>
            <a:ext cx="1603772" cy="200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系统工程实现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807744" y="2918640"/>
            <a:ext cx="1603772" cy="5554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基于前后端分离架构，实现接口服务、数据库持久化与可视化页面。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807744" y="3807619"/>
            <a:ext cx="1500188" cy="250031"/>
          </a:xfrm>
          <a:prstGeom prst="rect">
            <a:avLst/>
          </a:prstGeom>
          <a:solidFill>
            <a:srgbClr val="EEF7FF">
              <a:alpha val="92000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4807744" y="3807619"/>
            <a:ext cx="1500188" cy="7144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37" name="Text 34"/>
          <p:cNvSpPr/>
          <p:nvPr/>
        </p:nvSpPr>
        <p:spPr>
          <a:xfrm>
            <a:off x="4807744" y="3807619"/>
            <a:ext cx="1500188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94000"/>
              </a:lnSpc>
              <a:buNone/>
            </a:pPr>
            <a:r>
              <a:rPr lang="en-US" sz="70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Flask · Vue3 · MySQL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725841" y="2071688"/>
            <a:ext cx="1918097" cy="214312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6725841" y="2071688"/>
            <a:ext cx="1918097" cy="14288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40" name="Shape 37"/>
          <p:cNvSpPr/>
          <p:nvPr/>
        </p:nvSpPr>
        <p:spPr>
          <a:xfrm>
            <a:off x="6725841" y="4207669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41" name="Text 38"/>
          <p:cNvSpPr/>
          <p:nvPr/>
        </p:nvSpPr>
        <p:spPr>
          <a:xfrm>
            <a:off x="6883003" y="2214563"/>
            <a:ext cx="1760934" cy="2893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883003" y="2589609"/>
            <a:ext cx="1603772" cy="200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测试验证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883003" y="2918640"/>
            <a:ext cx="1603772" cy="5554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通过靶场、接口和异常场景测试，验证系统核心流程的可用性。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883003" y="3807619"/>
            <a:ext cx="1500188" cy="250031"/>
          </a:xfrm>
          <a:prstGeom prst="rect">
            <a:avLst/>
          </a:prstGeom>
          <a:solidFill>
            <a:srgbClr val="EEF7FF">
              <a:alpha val="92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6883003" y="3807619"/>
            <a:ext cx="1500188" cy="7144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46" name="Text 43"/>
          <p:cNvSpPr/>
          <p:nvPr/>
        </p:nvSpPr>
        <p:spPr>
          <a:xfrm>
            <a:off x="6883003" y="3807619"/>
            <a:ext cx="1500188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94000"/>
              </a:lnSpc>
              <a:buNone/>
            </a:pPr>
            <a:r>
              <a:rPr lang="en-US" sz="70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功能 · 异常 · 安全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00063" y="4471988"/>
            <a:ext cx="8143875" cy="557213"/>
          </a:xfrm>
          <a:prstGeom prst="rect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500063" y="4471988"/>
            <a:ext cx="8143875" cy="7144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49" name="Shape 46"/>
          <p:cNvSpPr/>
          <p:nvPr/>
        </p:nvSpPr>
        <p:spPr>
          <a:xfrm>
            <a:off x="500063" y="5022056"/>
            <a:ext cx="814387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50" name="Text 47"/>
          <p:cNvSpPr/>
          <p:nvPr/>
        </p:nvSpPr>
        <p:spPr>
          <a:xfrm>
            <a:off x="500063" y="4619327"/>
            <a:ext cx="1500188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总体目标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2000250" y="4636294"/>
            <a:ext cx="664368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构建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轻量化、可视化、可解释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的互联网资产风险分析平台。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35434"/>
            <a:ext cx="315753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03 / ARCHITECTURE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22957"/>
            <a:ext cx="3157538" cy="291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系统采用前后端分离闭环架构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77583" y="759023"/>
            <a:ext cx="2266355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SEPARATED WEB ARCHITECTURE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200150"/>
            <a:ext cx="4929188" cy="657225"/>
          </a:xfrm>
          <a:prstGeom prst="rect">
            <a:avLst/>
          </a:prstGeom>
          <a:solidFill>
            <a:srgbClr val="EEF7FF">
              <a:alpha val="66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200150"/>
            <a:ext cx="4929188" cy="7144"/>
          </a:xfrm>
          <a:prstGeom prst="rect">
            <a:avLst/>
          </a:prstGeom>
          <a:solidFill>
            <a:srgbClr val="9CCBFF"/>
          </a:solidFill>
        </p:spPr>
      </p:sp>
      <p:sp>
        <p:nvSpPr>
          <p:cNvPr id="8" name="Shape 5"/>
          <p:cNvSpPr/>
          <p:nvPr/>
        </p:nvSpPr>
        <p:spPr>
          <a:xfrm>
            <a:off x="500063" y="1850231"/>
            <a:ext cx="49291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9" name="Text 6"/>
          <p:cNvSpPr/>
          <p:nvPr/>
        </p:nvSpPr>
        <p:spPr>
          <a:xfrm>
            <a:off x="500063" y="1393924"/>
            <a:ext cx="84296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43025" y="1415355"/>
            <a:ext cx="164306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前端展示层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86088" y="1373386"/>
            <a:ext cx="2143125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负责用户交互、扫描任务提交、资产列表查看、风险图表展示与分析结果呈现。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343025" y="1650206"/>
            <a:ext cx="1655564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Vue3 · Element Plus · ECharts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357688" y="1200150"/>
            <a:ext cx="107156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14" name="Shape 11"/>
          <p:cNvSpPr/>
          <p:nvPr/>
        </p:nvSpPr>
        <p:spPr>
          <a:xfrm>
            <a:off x="500063" y="1985963"/>
            <a:ext cx="4929188" cy="657225"/>
          </a:xfrm>
          <a:prstGeom prst="rect">
            <a:avLst/>
          </a:prstGeom>
          <a:solidFill>
            <a:srgbClr val="EEF7FF">
              <a:alpha val="66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500063" y="1985963"/>
            <a:ext cx="4929188" cy="7144"/>
          </a:xfrm>
          <a:prstGeom prst="rect">
            <a:avLst/>
          </a:prstGeom>
          <a:solidFill>
            <a:srgbClr val="9CCBFF"/>
          </a:solidFill>
        </p:spPr>
      </p:sp>
      <p:sp>
        <p:nvSpPr>
          <p:cNvPr id="16" name="Shape 13"/>
          <p:cNvSpPr/>
          <p:nvPr/>
        </p:nvSpPr>
        <p:spPr>
          <a:xfrm>
            <a:off x="500063" y="2636044"/>
            <a:ext cx="49291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7" name="Text 14"/>
          <p:cNvSpPr/>
          <p:nvPr/>
        </p:nvSpPr>
        <p:spPr>
          <a:xfrm>
            <a:off x="500063" y="2179737"/>
            <a:ext cx="84296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43025" y="2201168"/>
            <a:ext cx="164306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后端服务层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986088" y="2159198"/>
            <a:ext cx="2143125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提供接口服务、业务逻辑处理、资产发现调度、风险规则计算与模型调用入口。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343025" y="2436019"/>
            <a:ext cx="1428750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Python · Flask · REST API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357688" y="1985963"/>
            <a:ext cx="107156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22" name="Shape 19"/>
          <p:cNvSpPr/>
          <p:nvPr/>
        </p:nvSpPr>
        <p:spPr>
          <a:xfrm>
            <a:off x="500063" y="2771775"/>
            <a:ext cx="4929188" cy="657225"/>
          </a:xfrm>
          <a:prstGeom prst="rect">
            <a:avLst/>
          </a:prstGeom>
          <a:solidFill>
            <a:srgbClr val="EEF7FF">
              <a:alpha val="66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00063" y="2771775"/>
            <a:ext cx="4929188" cy="7144"/>
          </a:xfrm>
          <a:prstGeom prst="rect">
            <a:avLst/>
          </a:prstGeom>
          <a:solidFill>
            <a:srgbClr val="9CCBFF"/>
          </a:solidFill>
        </p:spPr>
      </p:sp>
      <p:sp>
        <p:nvSpPr>
          <p:cNvPr id="24" name="Shape 21"/>
          <p:cNvSpPr/>
          <p:nvPr/>
        </p:nvSpPr>
        <p:spPr>
          <a:xfrm>
            <a:off x="500063" y="3421856"/>
            <a:ext cx="49291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5" name="Text 22"/>
          <p:cNvSpPr/>
          <p:nvPr/>
        </p:nvSpPr>
        <p:spPr>
          <a:xfrm>
            <a:off x="500063" y="2965549"/>
            <a:ext cx="84296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43025" y="2986980"/>
            <a:ext cx="164306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数据存储层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986088" y="2945011"/>
            <a:ext cx="2143125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持久化用户信息、资产基础数据、扫描记录、规则分析结果与机器学习分析结果。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343025" y="3221831"/>
            <a:ext cx="2002036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MySQL · users / asset_analysis tables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357688" y="2771775"/>
            <a:ext cx="107156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0" name="Shape 27"/>
          <p:cNvSpPr/>
          <p:nvPr/>
        </p:nvSpPr>
        <p:spPr>
          <a:xfrm>
            <a:off x="500063" y="3557588"/>
            <a:ext cx="4929188" cy="657225"/>
          </a:xfrm>
          <a:prstGeom prst="rect">
            <a:avLst/>
          </a:prstGeom>
          <a:solidFill>
            <a:srgbClr val="EEF7FF">
              <a:alpha val="66000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500063" y="3557588"/>
            <a:ext cx="4929188" cy="7144"/>
          </a:xfrm>
          <a:prstGeom prst="rect">
            <a:avLst/>
          </a:prstGeom>
          <a:solidFill>
            <a:srgbClr val="9CCBFF"/>
          </a:solidFill>
        </p:spPr>
      </p:sp>
      <p:sp>
        <p:nvSpPr>
          <p:cNvPr id="32" name="Shape 29"/>
          <p:cNvSpPr/>
          <p:nvPr/>
        </p:nvSpPr>
        <p:spPr>
          <a:xfrm>
            <a:off x="500063" y="4207669"/>
            <a:ext cx="49291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3" name="Text 30"/>
          <p:cNvSpPr/>
          <p:nvPr/>
        </p:nvSpPr>
        <p:spPr>
          <a:xfrm>
            <a:off x="500063" y="3751362"/>
            <a:ext cx="84296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343025" y="3772793"/>
            <a:ext cx="164306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智能分析层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986088" y="3730823"/>
            <a:ext cx="2143125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基于漏洞文本特征与资产上下文，完成CVE严重等级预测和风险说明生成。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343025" y="4007644"/>
            <a:ext cx="1644848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TF-IDF · Random Forest · LLM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357688" y="3557588"/>
            <a:ext cx="107156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8" name="Shape 35"/>
          <p:cNvSpPr/>
          <p:nvPr/>
        </p:nvSpPr>
        <p:spPr>
          <a:xfrm>
            <a:off x="5786438" y="1200150"/>
            <a:ext cx="2857500" cy="3093244"/>
          </a:xfrm>
          <a:prstGeom prst="rect">
            <a:avLst/>
          </a:prstGeom>
          <a:solidFill>
            <a:srgbClr val="FFFFFF">
              <a:alpha val="78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5786438" y="1200150"/>
            <a:ext cx="2857500" cy="14288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40" name="Shape 37"/>
          <p:cNvSpPr/>
          <p:nvPr/>
        </p:nvSpPr>
        <p:spPr>
          <a:xfrm>
            <a:off x="5786438" y="4286250"/>
            <a:ext cx="2857500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1" name="Text 38"/>
          <p:cNvSpPr/>
          <p:nvPr/>
        </p:nvSpPr>
        <p:spPr>
          <a:xfrm>
            <a:off x="6015038" y="1400175"/>
            <a:ext cx="2628900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运行闭环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015038" y="1734145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系统围绕资产发现、特征分析、风险评估与可视化展示，形成可持续迭代的风险治理链路。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6443663" y="2100263"/>
            <a:ext cx="1785938" cy="314325"/>
          </a:xfrm>
          <a:prstGeom prst="rect">
            <a:avLst/>
          </a:prstGeom>
          <a:solidFill>
            <a:srgbClr val="EEF7FF"/>
          </a:solidFill>
        </p:spPr>
      </p:sp>
      <p:sp>
        <p:nvSpPr>
          <p:cNvPr id="44" name="Shape 41"/>
          <p:cNvSpPr/>
          <p:nvPr/>
        </p:nvSpPr>
        <p:spPr>
          <a:xfrm>
            <a:off x="6443663" y="2100263"/>
            <a:ext cx="1785938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45" name="Shape 42"/>
          <p:cNvSpPr/>
          <p:nvPr/>
        </p:nvSpPr>
        <p:spPr>
          <a:xfrm>
            <a:off x="6443663" y="2407444"/>
            <a:ext cx="17859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6" name="Text 43"/>
          <p:cNvSpPr/>
          <p:nvPr/>
        </p:nvSpPr>
        <p:spPr>
          <a:xfrm>
            <a:off x="6765131" y="2161877"/>
            <a:ext cx="242888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发现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7079456" y="2177951"/>
            <a:ext cx="8858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主动探测 / 被动情报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443663" y="2514600"/>
            <a:ext cx="1785938" cy="314325"/>
          </a:xfrm>
          <a:prstGeom prst="rect">
            <a:avLst/>
          </a:prstGeom>
          <a:solidFill>
            <a:srgbClr val="EEF7FF"/>
          </a:solidFill>
        </p:spPr>
      </p:sp>
      <p:sp>
        <p:nvSpPr>
          <p:cNvPr id="49" name="Shape 46"/>
          <p:cNvSpPr/>
          <p:nvPr/>
        </p:nvSpPr>
        <p:spPr>
          <a:xfrm>
            <a:off x="6443663" y="2514600"/>
            <a:ext cx="1785938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50" name="Shape 47"/>
          <p:cNvSpPr/>
          <p:nvPr/>
        </p:nvSpPr>
        <p:spPr>
          <a:xfrm>
            <a:off x="6443663" y="2821781"/>
            <a:ext cx="17859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51" name="Text 48"/>
          <p:cNvSpPr/>
          <p:nvPr/>
        </p:nvSpPr>
        <p:spPr>
          <a:xfrm>
            <a:off x="6765131" y="2576215"/>
            <a:ext cx="242888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分析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079456" y="2592288"/>
            <a:ext cx="8858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资产标签 / 服务指纹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443663" y="2928938"/>
            <a:ext cx="1785938" cy="314325"/>
          </a:xfrm>
          <a:prstGeom prst="rect">
            <a:avLst/>
          </a:prstGeom>
          <a:solidFill>
            <a:srgbClr val="EEF7FF"/>
          </a:solidFill>
        </p:spPr>
      </p:sp>
      <p:sp>
        <p:nvSpPr>
          <p:cNvPr id="54" name="Shape 51"/>
          <p:cNvSpPr/>
          <p:nvPr/>
        </p:nvSpPr>
        <p:spPr>
          <a:xfrm>
            <a:off x="6443663" y="2928938"/>
            <a:ext cx="1785938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55" name="Shape 52"/>
          <p:cNvSpPr/>
          <p:nvPr/>
        </p:nvSpPr>
        <p:spPr>
          <a:xfrm>
            <a:off x="6443663" y="3236119"/>
            <a:ext cx="17859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56" name="Text 53"/>
          <p:cNvSpPr/>
          <p:nvPr/>
        </p:nvSpPr>
        <p:spPr>
          <a:xfrm>
            <a:off x="6765131" y="2990552"/>
            <a:ext cx="242888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评估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7079456" y="3006626"/>
            <a:ext cx="8858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规则评分 / 漏洞预测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6443663" y="3343275"/>
            <a:ext cx="1785938" cy="314325"/>
          </a:xfrm>
          <a:prstGeom prst="rect">
            <a:avLst/>
          </a:prstGeom>
          <a:solidFill>
            <a:srgbClr val="EEF7FF"/>
          </a:solidFill>
        </p:spPr>
      </p:sp>
      <p:sp>
        <p:nvSpPr>
          <p:cNvPr id="59" name="Shape 56"/>
          <p:cNvSpPr/>
          <p:nvPr/>
        </p:nvSpPr>
        <p:spPr>
          <a:xfrm>
            <a:off x="6443663" y="3343275"/>
            <a:ext cx="1785938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60" name="Shape 57"/>
          <p:cNvSpPr/>
          <p:nvPr/>
        </p:nvSpPr>
        <p:spPr>
          <a:xfrm>
            <a:off x="6443663" y="3650456"/>
            <a:ext cx="17859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61" name="Text 58"/>
          <p:cNvSpPr/>
          <p:nvPr/>
        </p:nvSpPr>
        <p:spPr>
          <a:xfrm>
            <a:off x="6765131" y="3404890"/>
            <a:ext cx="242888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展示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7079456" y="3420963"/>
            <a:ext cx="8858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8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统计图表 / 整改建议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6015038" y="3871913"/>
            <a:ext cx="2357438" cy="392906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架构目标：通过分层解耦降低系统复杂度，并使资产数据、风险结果与智能解释能够统一沉淀。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09705"/>
            <a:ext cx="3482578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 / FUNCTIONS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54379"/>
            <a:ext cx="3482578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功能模块覆盖资产风险治理全流程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463433" y="773311"/>
            <a:ext cx="1180505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MODULE MATRIX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128713"/>
            <a:ext cx="8143875" cy="428625"/>
          </a:xfrm>
          <a:prstGeom prst="rect">
            <a:avLst/>
          </a:prstGeom>
          <a:solidFill>
            <a:srgbClr val="EEF7FF">
              <a:alpha val="72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128713"/>
            <a:ext cx="8143875" cy="7144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8" name="Shape 5"/>
          <p:cNvSpPr/>
          <p:nvPr/>
        </p:nvSpPr>
        <p:spPr>
          <a:xfrm>
            <a:off x="500063" y="1550194"/>
            <a:ext cx="8143875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9" name="Text 6"/>
          <p:cNvSpPr/>
          <p:nvPr/>
        </p:nvSpPr>
        <p:spPr>
          <a:xfrm>
            <a:off x="700088" y="1222474"/>
            <a:ext cx="330041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从身份访问到智能解释，形成资产风险治理闭环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86388" y="1253728"/>
            <a:ext cx="3057525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用户管理 · 资产发现 · 资产分析 · 风险评估 · 智能分析</a:t>
            </a:r>
            <a:endParaRPr lang="en-US" sz="850" dirty="0"/>
          </a:p>
        </p:txBody>
      </p:sp>
      <p:sp>
        <p:nvSpPr>
          <p:cNvPr id="11" name="Shape 8"/>
          <p:cNvSpPr/>
          <p:nvPr>
            <p:custDataLst>
              <p:tags r:id="rId2"/>
            </p:custDataLst>
          </p:nvPr>
        </p:nvSpPr>
        <p:spPr>
          <a:xfrm>
            <a:off x="500063" y="1785938"/>
            <a:ext cx="1525888" cy="23860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2" name="Shape 9"/>
          <p:cNvSpPr/>
          <p:nvPr>
            <p:custDataLst>
              <p:tags r:id="rId3"/>
            </p:custDataLst>
          </p:nvPr>
        </p:nvSpPr>
        <p:spPr>
          <a:xfrm>
            <a:off x="500063" y="1785938"/>
            <a:ext cx="1525888" cy="14288"/>
          </a:xfrm>
          <a:prstGeom prst="rect">
            <a:avLst/>
          </a:prstGeom>
          <a:solidFill>
            <a:srgbClr val="78B8FF"/>
          </a:solidFill>
        </p:spPr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500063" y="4164806"/>
            <a:ext cx="1525888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14" name="Shape 11"/>
          <p:cNvSpPr/>
          <p:nvPr>
            <p:custDataLst>
              <p:tags r:id="rId5"/>
            </p:custDataLst>
          </p:nvPr>
        </p:nvSpPr>
        <p:spPr>
          <a:xfrm>
            <a:off x="500063" y="1785938"/>
            <a:ext cx="1525888" cy="392906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15" name="Shape 12"/>
          <p:cNvSpPr/>
          <p:nvPr>
            <p:custDataLst>
              <p:tags r:id="rId6"/>
            </p:custDataLst>
          </p:nvPr>
        </p:nvSpPr>
        <p:spPr>
          <a:xfrm>
            <a:off x="500063" y="2171700"/>
            <a:ext cx="15258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500063" y="1785938"/>
            <a:ext cx="1525888" cy="3929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969637" y="2328863"/>
            <a:ext cx="586740" cy="33845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  <a:sym typeface="+mn-ea"/>
              </a:rPr>
              <a:t>资产发现</a:t>
            </a:r>
            <a:endParaRPr lang="en-US" sz="1150" dirty="0"/>
          </a:p>
          <a:p>
            <a:pPr marL="0" indent="0" algn="ctr">
              <a:lnSpc>
                <a:spcPct val="96000"/>
              </a:lnSpc>
              <a:buNone/>
            </a:pPr>
            <a:endParaRPr lang="en-US" sz="1150" dirty="0"/>
          </a:p>
        </p:txBody>
      </p:sp>
      <p:sp>
        <p:nvSpPr>
          <p:cNvPr id="18" name="Text 15"/>
          <p:cNvSpPr/>
          <p:nvPr>
            <p:custDataLst>
              <p:tags r:id="rId9"/>
            </p:custDataLst>
          </p:nvPr>
        </p:nvSpPr>
        <p:spPr>
          <a:xfrm>
            <a:off x="825818" y="2640313"/>
            <a:ext cx="862965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形成可分析资产底账</a:t>
            </a:r>
            <a:endParaRPr lang="en-US" sz="750" dirty="0"/>
          </a:p>
        </p:txBody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628650" y="2963568"/>
            <a:ext cx="1257300" cy="4940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4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支持域名输入、扫描模式选择、主动探测、被动情报获取与融合入库</a:t>
            </a:r>
            <a:endParaRPr lang="en-US" sz="800" dirty="0"/>
          </a:p>
        </p:txBody>
      </p:sp>
      <p:sp>
        <p:nvSpPr>
          <p:cNvPr id="20" name="Shape 17"/>
          <p:cNvSpPr/>
          <p:nvPr>
            <p:custDataLst>
              <p:tags r:id="rId11"/>
            </p:custDataLst>
          </p:nvPr>
        </p:nvSpPr>
        <p:spPr>
          <a:xfrm>
            <a:off x="2148188" y="1785938"/>
            <a:ext cx="1525916" cy="23860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1" name="Shape 18"/>
          <p:cNvSpPr/>
          <p:nvPr>
            <p:custDataLst>
              <p:tags r:id="rId12"/>
            </p:custDataLst>
          </p:nvPr>
        </p:nvSpPr>
        <p:spPr>
          <a:xfrm>
            <a:off x="2154538" y="1785938"/>
            <a:ext cx="1525916" cy="14288"/>
          </a:xfrm>
          <a:prstGeom prst="rect">
            <a:avLst/>
          </a:prstGeom>
          <a:solidFill>
            <a:srgbClr val="78B8FF"/>
          </a:solidFill>
        </p:spPr>
      </p:sp>
      <p:sp>
        <p:nvSpPr>
          <p:cNvPr id="22" name="Shape 19"/>
          <p:cNvSpPr/>
          <p:nvPr>
            <p:custDataLst>
              <p:tags r:id="rId13"/>
            </p:custDataLst>
          </p:nvPr>
        </p:nvSpPr>
        <p:spPr>
          <a:xfrm>
            <a:off x="2154538" y="4164806"/>
            <a:ext cx="1525916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23" name="Shape 20"/>
          <p:cNvSpPr/>
          <p:nvPr>
            <p:custDataLst>
              <p:tags r:id="rId14"/>
            </p:custDataLst>
          </p:nvPr>
        </p:nvSpPr>
        <p:spPr>
          <a:xfrm>
            <a:off x="2154538" y="1785938"/>
            <a:ext cx="1525916" cy="392906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24" name="Shape 21"/>
          <p:cNvSpPr/>
          <p:nvPr>
            <p:custDataLst>
              <p:tags r:id="rId15"/>
            </p:custDataLst>
          </p:nvPr>
        </p:nvSpPr>
        <p:spPr>
          <a:xfrm>
            <a:off x="2154538" y="2171700"/>
            <a:ext cx="1525916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5" name="Text 22"/>
          <p:cNvSpPr/>
          <p:nvPr>
            <p:custDataLst>
              <p:tags r:id="rId16"/>
            </p:custDataLst>
          </p:nvPr>
        </p:nvSpPr>
        <p:spPr>
          <a:xfrm>
            <a:off x="2154538" y="1785938"/>
            <a:ext cx="1525916" cy="3929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26" name="Text 23"/>
          <p:cNvSpPr/>
          <p:nvPr>
            <p:custDataLst>
              <p:tags r:id="rId17"/>
            </p:custDataLst>
          </p:nvPr>
        </p:nvSpPr>
        <p:spPr>
          <a:xfrm>
            <a:off x="2624126" y="2328863"/>
            <a:ext cx="586740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</a:t>
            </a:r>
            <a:r>
              <a:rPr lang="zh-CN" alt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分析</a:t>
            </a:r>
            <a:endParaRPr lang="zh-CN" altLang="en-US" sz="1150" b="1" dirty="0">
              <a:solidFill>
                <a:srgbClr val="0A2A66"/>
              </a:solidFill>
              <a:latin typeface="Noto Sans SC Black" panose="020B0200000000000000" pitchFamily="34" charset="-122"/>
              <a:ea typeface="Noto Sans SC Black" panose="020B0200000000000000" pitchFamily="34" charset="-122"/>
              <a:cs typeface="Noto Sans SC Black" panose="020B0200000000000000" pitchFamily="34" charset="-120"/>
            </a:endParaRPr>
          </a:p>
        </p:txBody>
      </p:sp>
      <p:sp>
        <p:nvSpPr>
          <p:cNvPr id="27" name="Text 24"/>
          <p:cNvSpPr/>
          <p:nvPr>
            <p:custDataLst>
              <p:tags r:id="rId18"/>
            </p:custDataLst>
          </p:nvPr>
        </p:nvSpPr>
        <p:spPr>
          <a:xfrm>
            <a:off x="2528236" y="2640313"/>
            <a:ext cx="76708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  <a:sym typeface="+mn-ea"/>
              </a:rPr>
              <a:t>提取关键资产特征</a:t>
            </a:r>
            <a:endParaRPr lang="en-US" sz="750" dirty="0"/>
          </a:p>
        </p:txBody>
      </p:sp>
      <p:sp>
        <p:nvSpPr>
          <p:cNvPr id="28" name="Text 25"/>
          <p:cNvSpPr/>
          <p:nvPr>
            <p:custDataLst>
              <p:tags r:id="rId19"/>
            </p:custDataLst>
          </p:nvPr>
        </p:nvSpPr>
        <p:spPr>
          <a:xfrm>
            <a:off x="2283126" y="2963568"/>
            <a:ext cx="1257300" cy="4940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4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  <a:sym typeface="+mn-ea"/>
              </a:rPr>
              <a:t>识别端口、页面标题、Server 信息、状态码与资产标签。</a:t>
            </a:r>
            <a:endParaRPr lang="en-US" sz="800" dirty="0"/>
          </a:p>
        </p:txBody>
      </p:sp>
      <p:sp>
        <p:nvSpPr>
          <p:cNvPr id="29" name="Shape 26"/>
          <p:cNvSpPr/>
          <p:nvPr>
            <p:custDataLst>
              <p:tags r:id="rId20"/>
            </p:custDataLst>
          </p:nvPr>
        </p:nvSpPr>
        <p:spPr>
          <a:xfrm>
            <a:off x="3809042" y="1785938"/>
            <a:ext cx="1525888" cy="23860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0" name="Shape 27"/>
          <p:cNvSpPr/>
          <p:nvPr>
            <p:custDataLst>
              <p:tags r:id="rId21"/>
            </p:custDataLst>
          </p:nvPr>
        </p:nvSpPr>
        <p:spPr>
          <a:xfrm>
            <a:off x="3809042" y="1785938"/>
            <a:ext cx="1525888" cy="14288"/>
          </a:xfrm>
          <a:prstGeom prst="rect">
            <a:avLst/>
          </a:prstGeom>
          <a:solidFill>
            <a:srgbClr val="78B8FF"/>
          </a:solidFill>
        </p:spPr>
      </p:sp>
      <p:sp>
        <p:nvSpPr>
          <p:cNvPr id="31" name="Shape 28"/>
          <p:cNvSpPr/>
          <p:nvPr>
            <p:custDataLst>
              <p:tags r:id="rId22"/>
            </p:custDataLst>
          </p:nvPr>
        </p:nvSpPr>
        <p:spPr>
          <a:xfrm>
            <a:off x="3809042" y="4164806"/>
            <a:ext cx="1525888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32" name="Shape 29"/>
          <p:cNvSpPr/>
          <p:nvPr>
            <p:custDataLst>
              <p:tags r:id="rId23"/>
            </p:custDataLst>
          </p:nvPr>
        </p:nvSpPr>
        <p:spPr>
          <a:xfrm>
            <a:off x="3809042" y="1785938"/>
            <a:ext cx="1525888" cy="392906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33" name="Shape 30"/>
          <p:cNvSpPr/>
          <p:nvPr>
            <p:custDataLst>
              <p:tags r:id="rId24"/>
            </p:custDataLst>
          </p:nvPr>
        </p:nvSpPr>
        <p:spPr>
          <a:xfrm>
            <a:off x="3809042" y="2171700"/>
            <a:ext cx="15258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4" name="Text 31"/>
          <p:cNvSpPr/>
          <p:nvPr>
            <p:custDataLst>
              <p:tags r:id="rId25"/>
            </p:custDataLst>
          </p:nvPr>
        </p:nvSpPr>
        <p:spPr>
          <a:xfrm>
            <a:off x="3809042" y="1785938"/>
            <a:ext cx="1525888" cy="3929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MODULE 03</a:t>
            </a:r>
            <a:endParaRPr lang="en-US" sz="1000" dirty="0"/>
          </a:p>
        </p:txBody>
      </p:sp>
      <p:sp>
        <p:nvSpPr>
          <p:cNvPr id="35" name="Text 32"/>
          <p:cNvSpPr/>
          <p:nvPr>
            <p:custDataLst>
              <p:tags r:id="rId26"/>
            </p:custDataLst>
          </p:nvPr>
        </p:nvSpPr>
        <p:spPr>
          <a:xfrm>
            <a:off x="4278616" y="2328863"/>
            <a:ext cx="586740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zh-CN" alt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风险评估</a:t>
            </a:r>
            <a:endParaRPr lang="zh-CN" altLang="en-US" sz="1150" b="1" dirty="0">
              <a:solidFill>
                <a:srgbClr val="0A2A66"/>
              </a:solidFill>
              <a:latin typeface="Noto Sans SC Black" panose="020B0200000000000000" pitchFamily="34" charset="-122"/>
              <a:ea typeface="Noto Sans SC Black" panose="020B0200000000000000" pitchFamily="34" charset="-122"/>
              <a:cs typeface="Noto Sans SC Black" panose="020B0200000000000000" pitchFamily="34" charset="-120"/>
            </a:endParaRPr>
          </a:p>
        </p:txBody>
      </p:sp>
      <p:sp>
        <p:nvSpPr>
          <p:cNvPr id="36" name="Text 33"/>
          <p:cNvSpPr/>
          <p:nvPr>
            <p:custDataLst>
              <p:tags r:id="rId27"/>
            </p:custDataLst>
          </p:nvPr>
        </p:nvSpPr>
        <p:spPr>
          <a:xfrm>
            <a:off x="4278625" y="2640313"/>
            <a:ext cx="575310" cy="1428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zh-CN" altLang="en-US" sz="75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本地风险分析</a:t>
            </a:r>
            <a:endParaRPr lang="zh-CN" altLang="en-US" sz="750" b="1" dirty="0">
              <a:solidFill>
                <a:srgbClr val="1E88FF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</a:endParaRPr>
          </a:p>
        </p:txBody>
      </p:sp>
      <p:sp>
        <p:nvSpPr>
          <p:cNvPr id="37" name="Text 34"/>
          <p:cNvSpPr/>
          <p:nvPr>
            <p:custDataLst>
              <p:tags r:id="rId28"/>
            </p:custDataLst>
          </p:nvPr>
        </p:nvSpPr>
        <p:spPr>
          <a:xfrm>
            <a:off x="3937629" y="2963568"/>
            <a:ext cx="1257300" cy="4940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4000"/>
              </a:lnSpc>
              <a:buNone/>
            </a:pPr>
            <a:r>
              <a:rPr lang="zh-CN" altLang="en-US" sz="800" dirty="0"/>
              <a:t>基于规则评分生成风险分值、风险等级、风险原因和整改建议。</a:t>
            </a:r>
            <a:endParaRPr lang="zh-CN" altLang="en-US" sz="800" dirty="0"/>
          </a:p>
        </p:txBody>
      </p:sp>
      <p:sp>
        <p:nvSpPr>
          <p:cNvPr id="38" name="Shape 35"/>
          <p:cNvSpPr/>
          <p:nvPr>
            <p:custDataLst>
              <p:tags r:id="rId29"/>
            </p:custDataLst>
          </p:nvPr>
        </p:nvSpPr>
        <p:spPr>
          <a:xfrm>
            <a:off x="5463518" y="1785938"/>
            <a:ext cx="1525916" cy="23860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9" name="Shape 36"/>
          <p:cNvSpPr/>
          <p:nvPr>
            <p:custDataLst>
              <p:tags r:id="rId30"/>
            </p:custDataLst>
          </p:nvPr>
        </p:nvSpPr>
        <p:spPr>
          <a:xfrm>
            <a:off x="5463518" y="1785938"/>
            <a:ext cx="1525916" cy="14288"/>
          </a:xfrm>
          <a:prstGeom prst="rect">
            <a:avLst/>
          </a:prstGeom>
          <a:solidFill>
            <a:srgbClr val="78B8FF"/>
          </a:solidFill>
        </p:spPr>
      </p:sp>
      <p:sp>
        <p:nvSpPr>
          <p:cNvPr id="40" name="Shape 37"/>
          <p:cNvSpPr/>
          <p:nvPr>
            <p:custDataLst>
              <p:tags r:id="rId31"/>
            </p:custDataLst>
          </p:nvPr>
        </p:nvSpPr>
        <p:spPr>
          <a:xfrm>
            <a:off x="5463518" y="4164806"/>
            <a:ext cx="1525916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41" name="Shape 38"/>
          <p:cNvSpPr/>
          <p:nvPr>
            <p:custDataLst>
              <p:tags r:id="rId32"/>
            </p:custDataLst>
          </p:nvPr>
        </p:nvSpPr>
        <p:spPr>
          <a:xfrm>
            <a:off x="5463518" y="1785938"/>
            <a:ext cx="1525916" cy="392906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42" name="Shape 39"/>
          <p:cNvSpPr/>
          <p:nvPr>
            <p:custDataLst>
              <p:tags r:id="rId33"/>
            </p:custDataLst>
          </p:nvPr>
        </p:nvSpPr>
        <p:spPr>
          <a:xfrm>
            <a:off x="5463518" y="2171700"/>
            <a:ext cx="1525916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3" name="Text 40"/>
          <p:cNvSpPr/>
          <p:nvPr>
            <p:custDataLst>
              <p:tags r:id="rId34"/>
            </p:custDataLst>
          </p:nvPr>
        </p:nvSpPr>
        <p:spPr>
          <a:xfrm>
            <a:off x="5463518" y="1785938"/>
            <a:ext cx="1525916" cy="3929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44" name="Text 41"/>
          <p:cNvSpPr/>
          <p:nvPr>
            <p:custDataLst>
              <p:tags r:id="rId35"/>
            </p:custDataLst>
          </p:nvPr>
        </p:nvSpPr>
        <p:spPr>
          <a:xfrm>
            <a:off x="5463518" y="2328863"/>
            <a:ext cx="1525916" cy="1971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机器学习风险评估</a:t>
            </a:r>
            <a:endParaRPr lang="en-US" sz="1150" dirty="0"/>
          </a:p>
        </p:txBody>
      </p:sp>
      <p:sp>
        <p:nvSpPr>
          <p:cNvPr id="45" name="Text 42"/>
          <p:cNvSpPr/>
          <p:nvPr>
            <p:custDataLst>
              <p:tags r:id="rId36"/>
            </p:custDataLst>
          </p:nvPr>
        </p:nvSpPr>
        <p:spPr>
          <a:xfrm>
            <a:off x="5606393" y="2640313"/>
            <a:ext cx="1228725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输出风险等级与建议</a:t>
            </a:r>
            <a:endParaRPr lang="en-US" sz="750" dirty="0"/>
          </a:p>
        </p:txBody>
      </p:sp>
      <p:sp>
        <p:nvSpPr>
          <p:cNvPr id="46" name="Text 43"/>
          <p:cNvSpPr/>
          <p:nvPr>
            <p:custDataLst>
              <p:tags r:id="rId37"/>
            </p:custDataLst>
          </p:nvPr>
        </p:nvSpPr>
        <p:spPr>
          <a:xfrm>
            <a:off x="5592105" y="2963568"/>
            <a:ext cx="1257300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4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基于规则评分生成风险分值、风险等级、风险原因和整改建议。</a:t>
            </a:r>
            <a:endParaRPr lang="en-US" sz="800" dirty="0"/>
          </a:p>
        </p:txBody>
      </p:sp>
      <p:sp>
        <p:nvSpPr>
          <p:cNvPr id="47" name="Shape 44"/>
          <p:cNvSpPr/>
          <p:nvPr>
            <p:custDataLst>
              <p:tags r:id="rId38"/>
            </p:custDataLst>
          </p:nvPr>
        </p:nvSpPr>
        <p:spPr>
          <a:xfrm>
            <a:off x="7118021" y="1785938"/>
            <a:ext cx="1525916" cy="23860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48" name="Shape 45"/>
          <p:cNvSpPr/>
          <p:nvPr>
            <p:custDataLst>
              <p:tags r:id="rId39"/>
            </p:custDataLst>
          </p:nvPr>
        </p:nvSpPr>
        <p:spPr>
          <a:xfrm>
            <a:off x="7118021" y="1785938"/>
            <a:ext cx="1525916" cy="14288"/>
          </a:xfrm>
          <a:prstGeom prst="rect">
            <a:avLst/>
          </a:prstGeom>
          <a:solidFill>
            <a:srgbClr val="78B8FF"/>
          </a:solidFill>
        </p:spPr>
      </p:sp>
      <p:sp>
        <p:nvSpPr>
          <p:cNvPr id="49" name="Shape 46"/>
          <p:cNvSpPr/>
          <p:nvPr>
            <p:custDataLst>
              <p:tags r:id="rId40"/>
            </p:custDataLst>
          </p:nvPr>
        </p:nvSpPr>
        <p:spPr>
          <a:xfrm>
            <a:off x="7118021" y="4164806"/>
            <a:ext cx="1525916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50" name="Shape 47"/>
          <p:cNvSpPr/>
          <p:nvPr>
            <p:custDataLst>
              <p:tags r:id="rId41"/>
            </p:custDataLst>
          </p:nvPr>
        </p:nvSpPr>
        <p:spPr>
          <a:xfrm>
            <a:off x="7118021" y="1785938"/>
            <a:ext cx="1525916" cy="392906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51" name="Shape 48"/>
          <p:cNvSpPr/>
          <p:nvPr>
            <p:custDataLst>
              <p:tags r:id="rId42"/>
            </p:custDataLst>
          </p:nvPr>
        </p:nvSpPr>
        <p:spPr>
          <a:xfrm>
            <a:off x="7118021" y="2171700"/>
            <a:ext cx="1525916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52" name="Text 49"/>
          <p:cNvSpPr/>
          <p:nvPr>
            <p:custDataLst>
              <p:tags r:id="rId43"/>
            </p:custDataLst>
          </p:nvPr>
        </p:nvSpPr>
        <p:spPr>
          <a:xfrm>
            <a:off x="7118021" y="1785938"/>
            <a:ext cx="1525916" cy="3929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MODULE 05</a:t>
            </a:r>
            <a:endParaRPr lang="en-US" sz="1000" dirty="0"/>
          </a:p>
        </p:txBody>
      </p:sp>
      <p:sp>
        <p:nvSpPr>
          <p:cNvPr id="53" name="Text 50"/>
          <p:cNvSpPr/>
          <p:nvPr>
            <p:custDataLst>
              <p:tags r:id="rId44"/>
            </p:custDataLst>
          </p:nvPr>
        </p:nvSpPr>
        <p:spPr>
          <a:xfrm>
            <a:off x="7118021" y="2328863"/>
            <a:ext cx="1525916" cy="19715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LLM辅助分析</a:t>
            </a:r>
            <a:endParaRPr lang="en-US" sz="1150" dirty="0"/>
          </a:p>
        </p:txBody>
      </p:sp>
      <p:sp>
        <p:nvSpPr>
          <p:cNvPr id="54" name="Text 51"/>
          <p:cNvSpPr/>
          <p:nvPr>
            <p:custDataLst>
              <p:tags r:id="rId45"/>
            </p:custDataLst>
          </p:nvPr>
        </p:nvSpPr>
        <p:spPr>
          <a:xfrm>
            <a:off x="7260896" y="2640313"/>
            <a:ext cx="1228725" cy="1660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增强风险解释能力</a:t>
            </a:r>
            <a:endParaRPr lang="en-US" sz="750" dirty="0"/>
          </a:p>
        </p:txBody>
      </p:sp>
      <p:sp>
        <p:nvSpPr>
          <p:cNvPr id="55" name="Text 52"/>
          <p:cNvSpPr/>
          <p:nvPr>
            <p:custDataLst>
              <p:tags r:id="rId46"/>
            </p:custDataLst>
          </p:nvPr>
        </p:nvSpPr>
        <p:spPr>
          <a:xfrm>
            <a:off x="7246609" y="2963568"/>
            <a:ext cx="1257300" cy="54005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4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完成 CVE 匹配、严重等级预测，并结合 LLM 生成辅助风险解释。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00063" y="4471988"/>
            <a:ext cx="8143875" cy="650081"/>
          </a:xfrm>
          <a:prstGeom prst="rect">
            <a:avLst/>
          </a:prstGeom>
          <a:solidFill>
            <a:srgbClr val="FFFFFF">
              <a:alpha val="72000"/>
            </a:srgbClr>
          </a:solidFill>
        </p:spPr>
      </p:sp>
      <p:sp>
        <p:nvSpPr>
          <p:cNvPr id="57" name="Shape 54"/>
          <p:cNvSpPr/>
          <p:nvPr/>
        </p:nvSpPr>
        <p:spPr>
          <a:xfrm>
            <a:off x="500063" y="4471988"/>
            <a:ext cx="8143875" cy="14288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58" name="Shape 55"/>
          <p:cNvSpPr/>
          <p:nvPr/>
        </p:nvSpPr>
        <p:spPr>
          <a:xfrm>
            <a:off x="500063" y="5114925"/>
            <a:ext cx="814387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59" name="Text 56"/>
          <p:cNvSpPr/>
          <p:nvPr/>
        </p:nvSpPr>
        <p:spPr>
          <a:xfrm>
            <a:off x="500063" y="4662190"/>
            <a:ext cx="1785938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模块价值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2286000" y="4675584"/>
            <a:ext cx="6357938" cy="22145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solidFill>
                  <a:srgbClr val="183B63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将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资产发现</a:t>
            </a:r>
            <a:r>
              <a:rPr lang="en-US" sz="1050" dirty="0">
                <a:solidFill>
                  <a:srgbClr val="183B63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、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漏洞情报</a:t>
            </a:r>
            <a:r>
              <a:rPr lang="en-US" sz="1050" dirty="0">
                <a:solidFill>
                  <a:srgbClr val="183B63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、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规则评分</a:t>
            </a:r>
            <a:r>
              <a:rPr lang="en-US" sz="1050" dirty="0">
                <a:solidFill>
                  <a:srgbClr val="183B63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与</a:t>
            </a:r>
            <a:r>
              <a:rPr lang="en-US" sz="10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可视化展示</a:t>
            </a:r>
            <a:r>
              <a:rPr lang="en-US" sz="1050" dirty="0">
                <a:solidFill>
                  <a:srgbClr val="183B63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整合为统一平台。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38280"/>
            <a:ext cx="38862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05 / DISCOVERY FLOW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25804"/>
            <a:ext cx="388620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主动探测与被动情报融合形成资产底账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90209" y="744736"/>
            <a:ext cx="1253728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ACTIVE + PASSIVE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0063" y="1085850"/>
            <a:ext cx="7000875" cy="4207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主动探测验证资产当前状态，被动情报扩大覆盖范围；二者经过融合、去重、关联与存活验证后，形成可用于风险分析的资产底账。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0063" y="2070962"/>
            <a:ext cx="2357438" cy="1785938"/>
          </a:xfrm>
          <a:prstGeom prst="rect">
            <a:avLst/>
          </a:prstGeom>
          <a:solidFill>
            <a:srgbClr val="EEF7FF">
              <a:alpha val="68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500063" y="2070962"/>
            <a:ext cx="2357438" cy="14288"/>
          </a:xfrm>
          <a:prstGeom prst="rect">
            <a:avLst/>
          </a:prstGeom>
          <a:solidFill>
            <a:srgbClr val="6DB2FF"/>
          </a:solidFill>
        </p:spPr>
      </p:sp>
      <p:sp>
        <p:nvSpPr>
          <p:cNvPr id="9" name="Shape 6"/>
          <p:cNvSpPr/>
          <p:nvPr/>
        </p:nvSpPr>
        <p:spPr>
          <a:xfrm>
            <a:off x="500063" y="3849756"/>
            <a:ext cx="2357438" cy="7144"/>
          </a:xfrm>
          <a:prstGeom prst="rect">
            <a:avLst/>
          </a:prstGeom>
          <a:solidFill>
            <a:srgbClr val="C7E1FF"/>
          </a:solidFill>
        </p:spPr>
      </p:sp>
      <p:sp>
        <p:nvSpPr>
          <p:cNvPr id="10" name="Text 7"/>
          <p:cNvSpPr/>
          <p:nvPr/>
        </p:nvSpPr>
        <p:spPr>
          <a:xfrm>
            <a:off x="671513" y="2070962"/>
            <a:ext cx="218598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ACTIVE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71513" y="2413862"/>
            <a:ext cx="2185988" cy="2228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主动探测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1513" y="2765329"/>
            <a:ext cx="1964531" cy="5314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面向目标域名与服务端口发起探测，确认资产当前是否在线以及开放服务状态。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1513" y="3425344"/>
            <a:ext cx="1964531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000"/>
              </a:lnSpc>
              <a:buNone/>
            </a:pPr>
            <a:r>
              <a:rPr lang="en-US" sz="750" dirty="0">
                <a:solidFill>
                  <a:srgbClr val="0A2A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端口开放与服务响应识别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71513" y="3661088"/>
            <a:ext cx="1964531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000"/>
              </a:lnSpc>
              <a:buNone/>
            </a:pPr>
            <a:r>
              <a:rPr lang="en-US" sz="750" dirty="0">
                <a:solidFill>
                  <a:srgbClr val="0A2A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页面标题、状态码与 Server 信息采集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178969" y="1878081"/>
            <a:ext cx="2786063" cy="2171700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178969" y="1878081"/>
            <a:ext cx="2786063" cy="14288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17" name="Shape 14"/>
          <p:cNvSpPr/>
          <p:nvPr/>
        </p:nvSpPr>
        <p:spPr>
          <a:xfrm>
            <a:off x="3178969" y="4035493"/>
            <a:ext cx="2786063" cy="14288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18" name="Shape 15"/>
          <p:cNvSpPr/>
          <p:nvPr/>
        </p:nvSpPr>
        <p:spPr>
          <a:xfrm>
            <a:off x="3429000" y="2092393"/>
            <a:ext cx="2286000" cy="757238"/>
          </a:xfrm>
          <a:prstGeom prst="rect">
            <a:avLst/>
          </a:prstGeom>
          <a:solidFill>
            <a:srgbClr val="FFFFFF">
              <a:alpha val="68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3429000" y="2092393"/>
            <a:ext cx="2286000" cy="7144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20" name="Shape 17"/>
          <p:cNvSpPr/>
          <p:nvPr/>
        </p:nvSpPr>
        <p:spPr>
          <a:xfrm>
            <a:off x="3429000" y="2842487"/>
            <a:ext cx="2286000" cy="7144"/>
          </a:xfrm>
          <a:prstGeom prst="rect">
            <a:avLst/>
          </a:prstGeom>
          <a:solidFill>
            <a:srgbClr val="B7D9FF"/>
          </a:solidFill>
        </p:spPr>
      </p:sp>
      <p:sp>
        <p:nvSpPr>
          <p:cNvPr id="21" name="Text 18"/>
          <p:cNvSpPr/>
          <p:nvPr/>
        </p:nvSpPr>
        <p:spPr>
          <a:xfrm>
            <a:off x="3871913" y="2242942"/>
            <a:ext cx="1400175" cy="2400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多源融合与验证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044255" y="2540105"/>
            <a:ext cx="1055489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FUSION ENGINE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3429000" y="3021081"/>
            <a:ext cx="1085850" cy="314325"/>
          </a:xfrm>
          <a:prstGeom prst="rect">
            <a:avLst/>
          </a:prstGeom>
          <a:solidFill>
            <a:srgbClr val="FFFFFF">
              <a:alpha val="72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3429000" y="3021081"/>
            <a:ext cx="1085850" cy="7144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25" name="Shape 22"/>
          <p:cNvSpPr/>
          <p:nvPr/>
        </p:nvSpPr>
        <p:spPr>
          <a:xfrm>
            <a:off x="3429000" y="3328262"/>
            <a:ext cx="1085850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26" name="Text 23"/>
          <p:cNvSpPr/>
          <p:nvPr/>
        </p:nvSpPr>
        <p:spPr>
          <a:xfrm>
            <a:off x="3429000" y="3021081"/>
            <a:ext cx="1085850" cy="3143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去重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629150" y="3021081"/>
            <a:ext cx="1085850" cy="314325"/>
          </a:xfrm>
          <a:prstGeom prst="rect">
            <a:avLst/>
          </a:prstGeom>
          <a:solidFill>
            <a:srgbClr val="FFFFFF">
              <a:alpha val="72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4629150" y="3021081"/>
            <a:ext cx="1085850" cy="7144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29" name="Shape 26"/>
          <p:cNvSpPr/>
          <p:nvPr/>
        </p:nvSpPr>
        <p:spPr>
          <a:xfrm>
            <a:off x="4629150" y="3328262"/>
            <a:ext cx="1085850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30" name="Text 27"/>
          <p:cNvSpPr/>
          <p:nvPr/>
        </p:nvSpPr>
        <p:spPr>
          <a:xfrm>
            <a:off x="4629150" y="3021081"/>
            <a:ext cx="1085850" cy="3143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关联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429000" y="3435418"/>
            <a:ext cx="1085850" cy="314325"/>
          </a:xfrm>
          <a:prstGeom prst="rect">
            <a:avLst/>
          </a:prstGeom>
          <a:solidFill>
            <a:srgbClr val="FFFFFF">
              <a:alpha val="72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3429000" y="3435418"/>
            <a:ext cx="1085850" cy="7144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33" name="Shape 30"/>
          <p:cNvSpPr/>
          <p:nvPr/>
        </p:nvSpPr>
        <p:spPr>
          <a:xfrm>
            <a:off x="3429000" y="3742599"/>
            <a:ext cx="1085850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34" name="Text 31"/>
          <p:cNvSpPr/>
          <p:nvPr/>
        </p:nvSpPr>
        <p:spPr>
          <a:xfrm>
            <a:off x="3429000" y="3435418"/>
            <a:ext cx="1085850" cy="3143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存活验证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629150" y="3435418"/>
            <a:ext cx="1085850" cy="314325"/>
          </a:xfrm>
          <a:prstGeom prst="rect">
            <a:avLst/>
          </a:prstGeom>
          <a:solidFill>
            <a:srgbClr val="FFFFFF">
              <a:alpha val="72000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4629150" y="3435418"/>
            <a:ext cx="1085850" cy="7144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37" name="Shape 34"/>
          <p:cNvSpPr/>
          <p:nvPr/>
        </p:nvSpPr>
        <p:spPr>
          <a:xfrm>
            <a:off x="4629150" y="3742599"/>
            <a:ext cx="1085850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38" name="Text 35"/>
          <p:cNvSpPr/>
          <p:nvPr/>
        </p:nvSpPr>
        <p:spPr>
          <a:xfrm>
            <a:off x="4629150" y="3435418"/>
            <a:ext cx="1085850" cy="314325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统一入库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286500" y="2070962"/>
            <a:ext cx="2357438" cy="1785938"/>
          </a:xfrm>
          <a:prstGeom prst="rect">
            <a:avLst/>
          </a:prstGeom>
          <a:solidFill>
            <a:srgbClr val="EEF7FF">
              <a:alpha val="68000"/>
            </a:srgbClr>
          </a:solidFill>
        </p:spPr>
      </p:sp>
      <p:sp>
        <p:nvSpPr>
          <p:cNvPr id="40" name="Shape 37"/>
          <p:cNvSpPr/>
          <p:nvPr/>
        </p:nvSpPr>
        <p:spPr>
          <a:xfrm>
            <a:off x="6286500" y="2070962"/>
            <a:ext cx="2357438" cy="14288"/>
          </a:xfrm>
          <a:prstGeom prst="rect">
            <a:avLst/>
          </a:prstGeom>
          <a:solidFill>
            <a:srgbClr val="6DB2FF"/>
          </a:solidFill>
        </p:spPr>
      </p:sp>
      <p:sp>
        <p:nvSpPr>
          <p:cNvPr id="41" name="Shape 38"/>
          <p:cNvSpPr/>
          <p:nvPr/>
        </p:nvSpPr>
        <p:spPr>
          <a:xfrm>
            <a:off x="6286500" y="3849756"/>
            <a:ext cx="2357438" cy="7144"/>
          </a:xfrm>
          <a:prstGeom prst="rect">
            <a:avLst/>
          </a:prstGeom>
          <a:solidFill>
            <a:srgbClr val="C7E1FF"/>
          </a:solidFill>
        </p:spPr>
      </p:sp>
      <p:sp>
        <p:nvSpPr>
          <p:cNvPr id="42" name="Text 39"/>
          <p:cNvSpPr/>
          <p:nvPr/>
        </p:nvSpPr>
        <p:spPr>
          <a:xfrm>
            <a:off x="6457950" y="2070962"/>
            <a:ext cx="218598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PASSIVE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457950" y="2413862"/>
            <a:ext cx="2185988" cy="2228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被动情报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457950" y="2765329"/>
            <a:ext cx="1964531" cy="5314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利用外部情报与历史线索扩展资产范围，补充主动扫描难以覆盖的潜在暴露面。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457950" y="3425344"/>
            <a:ext cx="1964531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000"/>
              </a:lnSpc>
              <a:buNone/>
            </a:pPr>
            <a:r>
              <a:rPr lang="en-US" sz="750" dirty="0">
                <a:solidFill>
                  <a:srgbClr val="0A2A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子域名、历史资产线索汇聚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457950" y="3661088"/>
            <a:ext cx="1964531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7000"/>
              </a:lnSpc>
              <a:buNone/>
            </a:pPr>
            <a:r>
              <a:rPr lang="en-US" sz="750" dirty="0">
                <a:solidFill>
                  <a:srgbClr val="0A2A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公开信息与潜在入口补充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914650" y="2913924"/>
            <a:ext cx="442913" cy="14288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48" name="Shape 45"/>
          <p:cNvSpPr/>
          <p:nvPr/>
        </p:nvSpPr>
        <p:spPr>
          <a:xfrm>
            <a:off x="5786438" y="2913924"/>
            <a:ext cx="442913" cy="14288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49" name="Shape 46"/>
          <p:cNvSpPr/>
          <p:nvPr/>
        </p:nvSpPr>
        <p:spPr>
          <a:xfrm>
            <a:off x="500063" y="4399824"/>
            <a:ext cx="1918097" cy="671513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500063" y="4399824"/>
            <a:ext cx="1918097" cy="7144"/>
          </a:xfrm>
          <a:prstGeom prst="rect">
            <a:avLst/>
          </a:prstGeom>
          <a:solidFill>
            <a:srgbClr val="93C6FF"/>
          </a:solidFill>
        </p:spPr>
      </p:sp>
      <p:sp>
        <p:nvSpPr>
          <p:cNvPr id="51" name="Shape 48"/>
          <p:cNvSpPr/>
          <p:nvPr/>
        </p:nvSpPr>
        <p:spPr>
          <a:xfrm>
            <a:off x="500063" y="5064193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52" name="Text 49"/>
          <p:cNvSpPr/>
          <p:nvPr/>
        </p:nvSpPr>
        <p:spPr>
          <a:xfrm>
            <a:off x="1371600" y="4511446"/>
            <a:ext cx="17502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173361" y="4738260"/>
            <a:ext cx="571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输入目标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575322" y="4399824"/>
            <a:ext cx="1918097" cy="671513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55" name="Shape 52"/>
          <p:cNvSpPr/>
          <p:nvPr/>
        </p:nvSpPr>
        <p:spPr>
          <a:xfrm>
            <a:off x="2575322" y="4399824"/>
            <a:ext cx="1918097" cy="7144"/>
          </a:xfrm>
          <a:prstGeom prst="rect">
            <a:avLst/>
          </a:prstGeom>
          <a:solidFill>
            <a:srgbClr val="93C6FF"/>
          </a:solidFill>
        </p:spPr>
      </p:sp>
      <p:sp>
        <p:nvSpPr>
          <p:cNvPr id="56" name="Shape 53"/>
          <p:cNvSpPr/>
          <p:nvPr/>
        </p:nvSpPr>
        <p:spPr>
          <a:xfrm>
            <a:off x="2575322" y="5064193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57" name="Text 54"/>
          <p:cNvSpPr/>
          <p:nvPr/>
        </p:nvSpPr>
        <p:spPr>
          <a:xfrm>
            <a:off x="3446859" y="4511446"/>
            <a:ext cx="17502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3248620" y="4738260"/>
            <a:ext cx="571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双源发现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650581" y="4399824"/>
            <a:ext cx="1918097" cy="671513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60" name="Shape 57"/>
          <p:cNvSpPr/>
          <p:nvPr/>
        </p:nvSpPr>
        <p:spPr>
          <a:xfrm>
            <a:off x="4650581" y="4399824"/>
            <a:ext cx="1918097" cy="7144"/>
          </a:xfrm>
          <a:prstGeom prst="rect">
            <a:avLst/>
          </a:prstGeom>
          <a:solidFill>
            <a:srgbClr val="93C6FF"/>
          </a:solidFill>
        </p:spPr>
      </p:sp>
      <p:sp>
        <p:nvSpPr>
          <p:cNvPr id="61" name="Shape 58"/>
          <p:cNvSpPr/>
          <p:nvPr/>
        </p:nvSpPr>
        <p:spPr>
          <a:xfrm>
            <a:off x="4650581" y="5064193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62" name="Text 59"/>
          <p:cNvSpPr/>
          <p:nvPr/>
        </p:nvSpPr>
        <p:spPr>
          <a:xfrm>
            <a:off x="5522119" y="4511446"/>
            <a:ext cx="17502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5323880" y="4738260"/>
            <a:ext cx="571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融合验证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725841" y="4399824"/>
            <a:ext cx="1918097" cy="671513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65" name="Shape 62"/>
          <p:cNvSpPr/>
          <p:nvPr/>
        </p:nvSpPr>
        <p:spPr>
          <a:xfrm>
            <a:off x="6725841" y="4399824"/>
            <a:ext cx="1918097" cy="7144"/>
          </a:xfrm>
          <a:prstGeom prst="rect">
            <a:avLst/>
          </a:prstGeom>
          <a:solidFill>
            <a:srgbClr val="93C6FF"/>
          </a:solidFill>
        </p:spPr>
      </p:sp>
      <p:sp>
        <p:nvSpPr>
          <p:cNvPr id="66" name="Shape 63"/>
          <p:cNvSpPr/>
          <p:nvPr/>
        </p:nvSpPr>
        <p:spPr>
          <a:xfrm>
            <a:off x="6725841" y="5064193"/>
            <a:ext cx="1918097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67" name="Text 64"/>
          <p:cNvSpPr/>
          <p:nvPr/>
        </p:nvSpPr>
        <p:spPr>
          <a:xfrm>
            <a:off x="7597378" y="4511446"/>
            <a:ext cx="175022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7399139" y="4738260"/>
            <a:ext cx="5715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资产入库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52568"/>
            <a:ext cx="32004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06 / INTELLIGENT ANALYSIS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40091"/>
            <a:ext cx="320040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风险评估从分值走向可解释建议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90209" y="759023"/>
            <a:ext cx="1253728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RISK · ML · LLM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114425"/>
            <a:ext cx="8143875" cy="400050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114425"/>
            <a:ext cx="8143875" cy="7144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8" name="Shape 5"/>
          <p:cNvSpPr/>
          <p:nvPr/>
        </p:nvSpPr>
        <p:spPr>
          <a:xfrm>
            <a:off x="500063" y="1507331"/>
            <a:ext cx="814387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9" name="Text 6"/>
          <p:cNvSpPr/>
          <p:nvPr/>
        </p:nvSpPr>
        <p:spPr>
          <a:xfrm>
            <a:off x="500063" y="1114425"/>
            <a:ext cx="8143875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以规则评分形成基础判断，以机器学习补充漏洞情报，以 LLM 生成可读解释。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0063" y="1714500"/>
            <a:ext cx="2600325" cy="2778919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00063" y="1714500"/>
            <a:ext cx="2600325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12" name="Shape 9"/>
          <p:cNvSpPr/>
          <p:nvPr/>
        </p:nvSpPr>
        <p:spPr>
          <a:xfrm>
            <a:off x="500063" y="4486275"/>
            <a:ext cx="260032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13" name="Shape 10"/>
          <p:cNvSpPr/>
          <p:nvPr/>
        </p:nvSpPr>
        <p:spPr>
          <a:xfrm>
            <a:off x="500063" y="1714500"/>
            <a:ext cx="2600325" cy="578644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500063" y="2286000"/>
            <a:ext cx="26003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5" name="Text 12"/>
          <p:cNvSpPr/>
          <p:nvPr/>
        </p:nvSpPr>
        <p:spPr>
          <a:xfrm>
            <a:off x="500063" y="1835051"/>
            <a:ext cx="54292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2988" y="1805583"/>
            <a:ext cx="205740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规则风险评估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2988" y="2060972"/>
            <a:ext cx="2057400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RULE SCORING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71513" y="2421731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输入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057275" y="2421731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端口、服务指纹、资产标签、页面状态与暴露特征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71513" y="2986088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处理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57275" y="2986088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依据预设规则进行风险加权，形成可计算的基础评分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1513" y="3550444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输出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57275" y="3550444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风险分值、风险等级、风险原因与整改建议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71838" y="1714500"/>
            <a:ext cx="2600325" cy="2778919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3271838" y="1714500"/>
            <a:ext cx="2600325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26" name="Shape 23"/>
          <p:cNvSpPr/>
          <p:nvPr/>
        </p:nvSpPr>
        <p:spPr>
          <a:xfrm>
            <a:off x="3271838" y="4486275"/>
            <a:ext cx="260032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27" name="Shape 24"/>
          <p:cNvSpPr/>
          <p:nvPr/>
        </p:nvSpPr>
        <p:spPr>
          <a:xfrm>
            <a:off x="3271838" y="1714500"/>
            <a:ext cx="2600325" cy="578644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3271838" y="2286000"/>
            <a:ext cx="26003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9" name="Text 26"/>
          <p:cNvSpPr/>
          <p:nvPr/>
        </p:nvSpPr>
        <p:spPr>
          <a:xfrm>
            <a:off x="3271838" y="1835051"/>
            <a:ext cx="54292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ML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814763" y="1805583"/>
            <a:ext cx="205740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漏洞情报分析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814763" y="2060972"/>
            <a:ext cx="2057400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CVE PREDICTION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443288" y="2421731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输入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829050" y="2421731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资产组件识别结果、本地 CVE 知识库与漏洞描述文本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43288" y="2986088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处理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829050" y="2986088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通过 TF-IDF 构建文本特征，并调用随机森林模型预测严重等级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443288" y="3550444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输出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829050" y="3550444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CVE 匹配结果、等级分布、机器学习风险分值与分析说明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043613" y="1714500"/>
            <a:ext cx="2600325" cy="2778919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6043613" y="1714500"/>
            <a:ext cx="2600325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40" name="Shape 37"/>
          <p:cNvSpPr/>
          <p:nvPr/>
        </p:nvSpPr>
        <p:spPr>
          <a:xfrm>
            <a:off x="6043613" y="4486275"/>
            <a:ext cx="260032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41" name="Shape 38"/>
          <p:cNvSpPr/>
          <p:nvPr/>
        </p:nvSpPr>
        <p:spPr>
          <a:xfrm>
            <a:off x="6043613" y="1714500"/>
            <a:ext cx="2600325" cy="578644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6043613" y="2286000"/>
            <a:ext cx="26003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3" name="Text 40"/>
          <p:cNvSpPr/>
          <p:nvPr/>
        </p:nvSpPr>
        <p:spPr>
          <a:xfrm>
            <a:off x="6043613" y="1835051"/>
            <a:ext cx="542925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AI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86538" y="1805583"/>
            <a:ext cx="205740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LLM 辅助分析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586538" y="2060972"/>
            <a:ext cx="2057400" cy="1339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EXPLAINABLE REPORT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6215063" y="2421731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输入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600825" y="2421731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资产基础信息、规则评估结果、机器学习分析结果与资产上下文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215063" y="2986088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处理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600825" y="2986088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组合上下文生成自然语言风险解释，补充可读化分析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215063" y="3550444"/>
            <a:ext cx="385763" cy="255389"/>
          </a:xfrm>
          <a:prstGeom prst="rect">
            <a:avLst/>
          </a:prstGeom>
          <a:noFill/>
        </p:spPr>
        <p:txBody>
          <a:bodyPr wrap="non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输出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600825" y="3550444"/>
            <a:ext cx="1828800" cy="411435"/>
          </a:xfrm>
          <a:prstGeom prst="rect">
            <a:avLst/>
          </a:prstGeom>
          <a:noFill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风险原因、薄弱点、整改建议和报告摘要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00063" y="4672013"/>
            <a:ext cx="8143875" cy="428625"/>
          </a:xfrm>
          <a:prstGeom prst="rect">
            <a:avLst/>
          </a:prstGeom>
          <a:solidFill>
            <a:srgbClr val="FFFFFF">
              <a:alpha val="74000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500063" y="4672013"/>
            <a:ext cx="8143875" cy="7144"/>
          </a:xfrm>
          <a:prstGeom prst="rect">
            <a:avLst/>
          </a:prstGeom>
          <a:solidFill>
            <a:srgbClr val="BCDBFF"/>
          </a:solidFill>
        </p:spPr>
      </p:sp>
      <p:sp>
        <p:nvSpPr>
          <p:cNvPr id="54" name="Shape 51"/>
          <p:cNvSpPr/>
          <p:nvPr/>
        </p:nvSpPr>
        <p:spPr>
          <a:xfrm>
            <a:off x="500063" y="5093494"/>
            <a:ext cx="814387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55" name="Text 52"/>
          <p:cNvSpPr/>
          <p:nvPr/>
        </p:nvSpPr>
        <p:spPr>
          <a:xfrm>
            <a:off x="2728913" y="4785420"/>
            <a:ext cx="814388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综合闭环：从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3686175" y="4785420"/>
            <a:ext cx="108585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可计算的风险分值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914900" y="4785420"/>
            <a:ext cx="27146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走向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329238" y="4785420"/>
            <a:ext cx="108585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可解释的整改依据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52568"/>
            <a:ext cx="3886200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07 / DATABASE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40091"/>
            <a:ext cx="3886200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数据库围绕扫描、资产与分析结果建模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61684" y="759023"/>
            <a:ext cx="882253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DATA MODEL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057275"/>
            <a:ext cx="8143875" cy="371475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057275"/>
            <a:ext cx="8143875" cy="7144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8" name="Shape 5"/>
          <p:cNvSpPr/>
          <p:nvPr/>
        </p:nvSpPr>
        <p:spPr>
          <a:xfrm>
            <a:off x="500063" y="1421606"/>
            <a:ext cx="814387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9" name="Text 6"/>
          <p:cNvSpPr/>
          <p:nvPr/>
        </p:nvSpPr>
        <p:spPr>
          <a:xfrm>
            <a:off x="500063" y="1057275"/>
            <a:ext cx="8143875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A6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以资产基础信息为中心，连接用户、扫描任务、规则评估与机器学习分析结果。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0063" y="1500188"/>
            <a:ext cx="2143125" cy="1171575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00063" y="1500188"/>
            <a:ext cx="2143125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12" name="Shape 9"/>
          <p:cNvSpPr/>
          <p:nvPr/>
        </p:nvSpPr>
        <p:spPr>
          <a:xfrm>
            <a:off x="500063" y="2664619"/>
            <a:ext cx="214312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13" name="Shape 10"/>
          <p:cNvSpPr/>
          <p:nvPr/>
        </p:nvSpPr>
        <p:spPr>
          <a:xfrm>
            <a:off x="500063" y="1500188"/>
            <a:ext cx="2143125" cy="335756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500063" y="1828800"/>
            <a:ext cx="21431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5" name="Text 12"/>
          <p:cNvSpPr/>
          <p:nvPr/>
        </p:nvSpPr>
        <p:spPr>
          <a:xfrm>
            <a:off x="628650" y="1560909"/>
            <a:ext cx="407194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users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228850" y="1601986"/>
            <a:ext cx="300038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AUTH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28650" y="1928813"/>
            <a:ext cx="1785938" cy="1480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保存用户账号、角色和认证信息。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8650" y="2162547"/>
            <a:ext cx="1785938" cy="385037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6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关键字段：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用户ID、账号、密码哈希、角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色、创建时间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00063" y="3014663"/>
            <a:ext cx="2143125" cy="1171575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500063" y="3014663"/>
            <a:ext cx="2143125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21" name="Shape 18"/>
          <p:cNvSpPr/>
          <p:nvPr/>
        </p:nvSpPr>
        <p:spPr>
          <a:xfrm>
            <a:off x="500063" y="4179094"/>
            <a:ext cx="2143125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22" name="Shape 19"/>
          <p:cNvSpPr/>
          <p:nvPr/>
        </p:nvSpPr>
        <p:spPr>
          <a:xfrm>
            <a:off x="500063" y="3014663"/>
            <a:ext cx="2143125" cy="335756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00063" y="3343275"/>
            <a:ext cx="21431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4" name="Text 21"/>
          <p:cNvSpPr/>
          <p:nvPr/>
        </p:nvSpPr>
        <p:spPr>
          <a:xfrm>
            <a:off x="628650" y="3075384"/>
            <a:ext cx="916186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scan_record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48495" y="3116461"/>
            <a:ext cx="280392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TASK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28650" y="3443288"/>
            <a:ext cx="1785938" cy="1480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记录资产发现任务的执行过程。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28650" y="3677022"/>
            <a:ext cx="1785938" cy="385037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6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关键字段：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目标域名、扫描模式、执行状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态、开始与结束时间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3286125" y="2100263"/>
            <a:ext cx="2571750" cy="1600200"/>
          </a:xfrm>
          <a:prstGeom prst="rect">
            <a:avLst/>
          </a:prstGeom>
          <a:solidFill>
            <a:srgbClr val="FFFFFF">
              <a:alpha val="92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3286125" y="2100263"/>
            <a:ext cx="2571750" cy="21431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0" name="Shape 27"/>
          <p:cNvSpPr/>
          <p:nvPr/>
        </p:nvSpPr>
        <p:spPr>
          <a:xfrm>
            <a:off x="3286125" y="3693319"/>
            <a:ext cx="2571750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31" name="Shape 28"/>
          <p:cNvSpPr/>
          <p:nvPr/>
        </p:nvSpPr>
        <p:spPr>
          <a:xfrm>
            <a:off x="3286125" y="2100263"/>
            <a:ext cx="2571750" cy="335756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3286125" y="2428875"/>
            <a:ext cx="2571750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3" name="Text 30"/>
          <p:cNvSpPr/>
          <p:nvPr/>
        </p:nvSpPr>
        <p:spPr>
          <a:xfrm>
            <a:off x="3414713" y="2160984"/>
            <a:ext cx="39647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asset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70277" y="2202061"/>
            <a:ext cx="673298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CORE ASSET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3414713" y="2528888"/>
            <a:ext cx="2228850" cy="47575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资产基础信息表，承接发现结果，为规则评估、机器学习分析和可视化展示提供统一数据源。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414713" y="3090370"/>
            <a:ext cx="2228850" cy="40858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3414713" y="3090370"/>
            <a:ext cx="2228850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38" name="Text 35"/>
          <p:cNvSpPr/>
          <p:nvPr/>
        </p:nvSpPr>
        <p:spPr>
          <a:xfrm>
            <a:off x="3414713" y="3090370"/>
            <a:ext cx="2228850" cy="408589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7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字段：</a:t>
            </a: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域名 · IP · 端口 · 页面标题 · 状态码 · </a:t>
            </a: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Server 信息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286500" y="1500188"/>
            <a:ext cx="2357438" cy="1271588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40" name="Shape 37"/>
          <p:cNvSpPr/>
          <p:nvPr/>
        </p:nvSpPr>
        <p:spPr>
          <a:xfrm>
            <a:off x="6286500" y="1500188"/>
            <a:ext cx="2357438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41" name="Shape 38"/>
          <p:cNvSpPr/>
          <p:nvPr/>
        </p:nvSpPr>
        <p:spPr>
          <a:xfrm>
            <a:off x="6286500" y="2764631"/>
            <a:ext cx="2357438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42" name="Shape 39"/>
          <p:cNvSpPr/>
          <p:nvPr/>
        </p:nvSpPr>
        <p:spPr>
          <a:xfrm>
            <a:off x="6286500" y="1500188"/>
            <a:ext cx="2357438" cy="335756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6286500" y="1828800"/>
            <a:ext cx="23574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4" name="Text 41"/>
          <p:cNvSpPr/>
          <p:nvPr/>
        </p:nvSpPr>
        <p:spPr>
          <a:xfrm>
            <a:off x="6415088" y="1560909"/>
            <a:ext cx="1103709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asset_analysis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40316" y="1601986"/>
            <a:ext cx="289322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RULE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6415088" y="1928813"/>
            <a:ext cx="1785938" cy="1480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保存规则化资产分析和风险评估结果。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415088" y="2162547"/>
            <a:ext cx="1785938" cy="385037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6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关键字段：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资产标签、风险分值、风险等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级、风险原因、整改建议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6286500" y="3114675"/>
            <a:ext cx="2357438" cy="1271588"/>
          </a:xfrm>
          <a:prstGeom prst="rect">
            <a:avLst/>
          </a:prstGeom>
          <a:solidFill>
            <a:srgbClr val="FFFFFF">
              <a:alpha val="88000"/>
            </a:srgbClr>
          </a:solidFill>
        </p:spPr>
      </p:sp>
      <p:sp>
        <p:nvSpPr>
          <p:cNvPr id="49" name="Shape 46"/>
          <p:cNvSpPr/>
          <p:nvPr/>
        </p:nvSpPr>
        <p:spPr>
          <a:xfrm>
            <a:off x="6286500" y="3114675"/>
            <a:ext cx="2357438" cy="14288"/>
          </a:xfrm>
          <a:prstGeom prst="rect">
            <a:avLst/>
          </a:prstGeom>
          <a:solidFill>
            <a:srgbClr val="74B5FF"/>
          </a:solidFill>
        </p:spPr>
      </p:sp>
      <p:sp>
        <p:nvSpPr>
          <p:cNvPr id="50" name="Shape 47"/>
          <p:cNvSpPr/>
          <p:nvPr/>
        </p:nvSpPr>
        <p:spPr>
          <a:xfrm>
            <a:off x="6286500" y="4379119"/>
            <a:ext cx="2357438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51" name="Shape 48"/>
          <p:cNvSpPr/>
          <p:nvPr/>
        </p:nvSpPr>
        <p:spPr>
          <a:xfrm>
            <a:off x="6286500" y="3114675"/>
            <a:ext cx="2357438" cy="335756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52" name="Shape 49"/>
          <p:cNvSpPr/>
          <p:nvPr/>
        </p:nvSpPr>
        <p:spPr>
          <a:xfrm>
            <a:off x="6286500" y="3443288"/>
            <a:ext cx="23574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53" name="Text 50"/>
          <p:cNvSpPr/>
          <p:nvPr/>
        </p:nvSpPr>
        <p:spPr>
          <a:xfrm>
            <a:off x="6415088" y="3175397"/>
            <a:ext cx="138588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asset_ml_analysis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374261" y="3216473"/>
            <a:ext cx="155377" cy="1250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ML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6415088" y="3543300"/>
            <a:ext cx="1785938" cy="1480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保存CVE匹配与机器学习辅助分析结果。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6415088" y="3777035"/>
            <a:ext cx="1785938" cy="385037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6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关键字段：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CVE匹配、预测等级、风险分</a:t>
            </a:r>
            <a:r>
              <a:rPr lang="en-US" sz="6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布、分析说明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00063" y="4443413"/>
            <a:ext cx="8143875" cy="535781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58" name="Shape 55"/>
          <p:cNvSpPr/>
          <p:nvPr/>
        </p:nvSpPr>
        <p:spPr>
          <a:xfrm>
            <a:off x="500063" y="4443413"/>
            <a:ext cx="8143875" cy="14288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59" name="Shape 56"/>
          <p:cNvSpPr/>
          <p:nvPr/>
        </p:nvSpPr>
        <p:spPr>
          <a:xfrm>
            <a:off x="500063" y="4972050"/>
            <a:ext cx="814387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60" name="Text 57"/>
          <p:cNvSpPr/>
          <p:nvPr/>
        </p:nvSpPr>
        <p:spPr>
          <a:xfrm>
            <a:off x="500063" y="4581823"/>
            <a:ext cx="1500188" cy="237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核心关系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2000250" y="4598789"/>
            <a:ext cx="6643688" cy="2035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用户发起扫描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→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资产融合入库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→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规则与模型分析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→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风险结果沉淀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52568"/>
            <a:ext cx="3461147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08 / DEVELOPMENT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40091"/>
            <a:ext cx="3461147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技术栈支撑工程实现与可视化展示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775847" y="759023"/>
            <a:ext cx="1868091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ENGINEERING TOOLCHAIN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114425"/>
            <a:ext cx="8143875" cy="428625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114425"/>
            <a:ext cx="8143875" cy="7144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8" name="Shape 5"/>
          <p:cNvSpPr/>
          <p:nvPr/>
        </p:nvSpPr>
        <p:spPr>
          <a:xfrm>
            <a:off x="500063" y="1535906"/>
            <a:ext cx="814387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9" name="Text 6"/>
          <p:cNvSpPr/>
          <p:nvPr/>
        </p:nvSpPr>
        <p:spPr>
          <a:xfrm>
            <a:off x="700088" y="1208187"/>
            <a:ext cx="4500563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基于主流 Web 技术栈、数据库工具与机器学习环境完成系统实现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68516" y="1239441"/>
            <a:ext cx="3175397" cy="1643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前端交互 · 后端接口 · 数据持久化 · 模型分析 · 测试验证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0063" y="1757363"/>
            <a:ext cx="2609841" cy="94297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00063" y="1757363"/>
            <a:ext cx="2609841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13" name="Shape 10"/>
          <p:cNvSpPr/>
          <p:nvPr/>
        </p:nvSpPr>
        <p:spPr>
          <a:xfrm>
            <a:off x="500063" y="2693194"/>
            <a:ext cx="2609841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14" name="Shape 11"/>
          <p:cNvSpPr/>
          <p:nvPr/>
        </p:nvSpPr>
        <p:spPr>
          <a:xfrm>
            <a:off x="500063" y="1757363"/>
            <a:ext cx="2609841" cy="307181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500063" y="2057400"/>
            <a:ext cx="2609841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6" name="Text 13"/>
          <p:cNvSpPr/>
          <p:nvPr/>
        </p:nvSpPr>
        <p:spPr>
          <a:xfrm>
            <a:off x="500063" y="1813620"/>
            <a:ext cx="44291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42975" y="1809155"/>
            <a:ext cx="21669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运行环境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71513" y="2185988"/>
            <a:ext cx="2143125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Windows / Linux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
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支持系统开发、部署与基础运行验证。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209763" y="1757363"/>
            <a:ext cx="90011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20" name="Shape 17"/>
          <p:cNvSpPr/>
          <p:nvPr/>
        </p:nvSpPr>
        <p:spPr>
          <a:xfrm>
            <a:off x="3267066" y="1757363"/>
            <a:ext cx="2609841" cy="94297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3267066" y="1757363"/>
            <a:ext cx="2609841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22" name="Shape 19"/>
          <p:cNvSpPr/>
          <p:nvPr/>
        </p:nvSpPr>
        <p:spPr>
          <a:xfrm>
            <a:off x="3267066" y="2693194"/>
            <a:ext cx="2609841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23" name="Shape 20"/>
          <p:cNvSpPr/>
          <p:nvPr/>
        </p:nvSpPr>
        <p:spPr>
          <a:xfrm>
            <a:off x="3267066" y="1757363"/>
            <a:ext cx="2609841" cy="307181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3267066" y="2057400"/>
            <a:ext cx="2609841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5" name="Text 22"/>
          <p:cNvSpPr/>
          <p:nvPr/>
        </p:nvSpPr>
        <p:spPr>
          <a:xfrm>
            <a:off x="3267066" y="1813620"/>
            <a:ext cx="44291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709978" y="1809155"/>
            <a:ext cx="21669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后端环境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438516" y="2185988"/>
            <a:ext cx="2143125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Python · Flask · scikit-learn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
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提供接口服务、业务逻辑与模型能力。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976766" y="1757363"/>
            <a:ext cx="90011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29" name="Shape 26"/>
          <p:cNvSpPr/>
          <p:nvPr/>
        </p:nvSpPr>
        <p:spPr>
          <a:xfrm>
            <a:off x="6034069" y="1757363"/>
            <a:ext cx="2609869" cy="94297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6034069" y="1757363"/>
            <a:ext cx="2609869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31" name="Shape 28"/>
          <p:cNvSpPr/>
          <p:nvPr/>
        </p:nvSpPr>
        <p:spPr>
          <a:xfrm>
            <a:off x="6034069" y="2693194"/>
            <a:ext cx="2609869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32" name="Shape 29"/>
          <p:cNvSpPr/>
          <p:nvPr/>
        </p:nvSpPr>
        <p:spPr>
          <a:xfrm>
            <a:off x="6034069" y="1757363"/>
            <a:ext cx="2609869" cy="307181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6034069" y="2057400"/>
            <a:ext cx="2609869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4" name="Text 31"/>
          <p:cNvSpPr/>
          <p:nvPr/>
        </p:nvSpPr>
        <p:spPr>
          <a:xfrm>
            <a:off x="6034069" y="1813620"/>
            <a:ext cx="44291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76981" y="1809155"/>
            <a:ext cx="2166956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前端环境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205519" y="2185988"/>
            <a:ext cx="2143125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Vue3 · Element Plus · ECharts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
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实现交互页面与风险图表展示。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743825" y="1757363"/>
            <a:ext cx="90011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8" name="Shape 35"/>
          <p:cNvSpPr/>
          <p:nvPr/>
        </p:nvSpPr>
        <p:spPr>
          <a:xfrm>
            <a:off x="500063" y="2857500"/>
            <a:ext cx="2609841" cy="94297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500063" y="2857500"/>
            <a:ext cx="2609841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40" name="Shape 37"/>
          <p:cNvSpPr/>
          <p:nvPr/>
        </p:nvSpPr>
        <p:spPr>
          <a:xfrm>
            <a:off x="500063" y="3793331"/>
            <a:ext cx="2609841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41" name="Shape 38"/>
          <p:cNvSpPr/>
          <p:nvPr/>
        </p:nvSpPr>
        <p:spPr>
          <a:xfrm>
            <a:off x="500063" y="2857500"/>
            <a:ext cx="2609841" cy="307181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500063" y="3157538"/>
            <a:ext cx="2609841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3" name="Text 40"/>
          <p:cNvSpPr/>
          <p:nvPr/>
        </p:nvSpPr>
        <p:spPr>
          <a:xfrm>
            <a:off x="500063" y="2913757"/>
            <a:ext cx="44291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42975" y="2909292"/>
            <a:ext cx="21669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数据库环境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71513" y="3286125"/>
            <a:ext cx="2143125" cy="56575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MySQL · Navicat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
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存储并管理用户、资产、扫描与分析数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据。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209763" y="2857500"/>
            <a:ext cx="90011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47" name="Shape 44"/>
          <p:cNvSpPr/>
          <p:nvPr/>
        </p:nvSpPr>
        <p:spPr>
          <a:xfrm>
            <a:off x="3267066" y="2857500"/>
            <a:ext cx="2609841" cy="94297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3267066" y="2857500"/>
            <a:ext cx="2609841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49" name="Shape 46"/>
          <p:cNvSpPr/>
          <p:nvPr/>
        </p:nvSpPr>
        <p:spPr>
          <a:xfrm>
            <a:off x="3267066" y="3793331"/>
            <a:ext cx="2609841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50" name="Shape 47"/>
          <p:cNvSpPr/>
          <p:nvPr/>
        </p:nvSpPr>
        <p:spPr>
          <a:xfrm>
            <a:off x="3267066" y="2857500"/>
            <a:ext cx="2609841" cy="307181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3267066" y="3157538"/>
            <a:ext cx="2609841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52" name="Text 49"/>
          <p:cNvSpPr/>
          <p:nvPr/>
        </p:nvSpPr>
        <p:spPr>
          <a:xfrm>
            <a:off x="3267066" y="2913757"/>
            <a:ext cx="44291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05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709978" y="2909292"/>
            <a:ext cx="21669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开发工具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3438516" y="3286125"/>
            <a:ext cx="2143125" cy="3448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VS Code · Git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
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支撑编码、调试、版本管理与协作迭代。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4976766" y="2857500"/>
            <a:ext cx="90011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56" name="Shape 53"/>
          <p:cNvSpPr/>
          <p:nvPr/>
        </p:nvSpPr>
        <p:spPr>
          <a:xfrm>
            <a:off x="6034069" y="2857500"/>
            <a:ext cx="2609869" cy="942975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57" name="Shape 54"/>
          <p:cNvSpPr/>
          <p:nvPr/>
        </p:nvSpPr>
        <p:spPr>
          <a:xfrm>
            <a:off x="6034069" y="2857500"/>
            <a:ext cx="2609869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58" name="Shape 55"/>
          <p:cNvSpPr/>
          <p:nvPr/>
        </p:nvSpPr>
        <p:spPr>
          <a:xfrm>
            <a:off x="6034069" y="3793331"/>
            <a:ext cx="2609869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59" name="Shape 56"/>
          <p:cNvSpPr/>
          <p:nvPr/>
        </p:nvSpPr>
        <p:spPr>
          <a:xfrm>
            <a:off x="6034069" y="2857500"/>
            <a:ext cx="2609869" cy="307181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60" name="Shape 57"/>
          <p:cNvSpPr/>
          <p:nvPr/>
        </p:nvSpPr>
        <p:spPr>
          <a:xfrm>
            <a:off x="6034069" y="3157538"/>
            <a:ext cx="2609869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61" name="Text 58"/>
          <p:cNvSpPr/>
          <p:nvPr/>
        </p:nvSpPr>
        <p:spPr>
          <a:xfrm>
            <a:off x="6034069" y="2913757"/>
            <a:ext cx="442913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476981" y="2909292"/>
            <a:ext cx="2166956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测试环境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205519" y="3286125"/>
            <a:ext cx="2143125" cy="3771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Docker · 主流浏览器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
</a:t>
            </a:r>
            <a:r>
              <a:rPr lang="en-US" sz="8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构建测试靶场并完成兼容性验证。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7743825" y="2857500"/>
            <a:ext cx="900113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65" name="Shape 62"/>
          <p:cNvSpPr/>
          <p:nvPr/>
        </p:nvSpPr>
        <p:spPr>
          <a:xfrm>
            <a:off x="500063" y="4057650"/>
            <a:ext cx="8143875" cy="892969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66" name="Shape 63"/>
          <p:cNvSpPr/>
          <p:nvPr/>
        </p:nvSpPr>
        <p:spPr>
          <a:xfrm>
            <a:off x="500063" y="4057650"/>
            <a:ext cx="8143875" cy="14288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67" name="Shape 64"/>
          <p:cNvSpPr/>
          <p:nvPr/>
        </p:nvSpPr>
        <p:spPr>
          <a:xfrm>
            <a:off x="500063" y="4943475"/>
            <a:ext cx="814387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68" name="Text 65"/>
          <p:cNvSpPr/>
          <p:nvPr/>
        </p:nvSpPr>
        <p:spPr>
          <a:xfrm>
            <a:off x="700088" y="4229100"/>
            <a:ext cx="6858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技术路线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1643063" y="4614863"/>
            <a:ext cx="1071563" cy="2700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Vue3 / ECharts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前端展示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2857500" y="4614863"/>
            <a:ext cx="1071563" cy="2700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Flask REST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接口服务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071938" y="4614863"/>
            <a:ext cx="1071563" cy="2700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MySQL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数据存储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5286375" y="4614863"/>
            <a:ext cx="1071563" cy="2700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TF-IDF / RF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模型分析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6500813" y="4614863"/>
            <a:ext cx="1071563" cy="2700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Docker / Browser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700" b="1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测试验证</a:t>
            </a:r>
            <a:endParaRPr lang="en-US" sz="700" dirty="0"/>
          </a:p>
        </p:txBody>
      </p:sp>
      <p:sp>
        <p:nvSpPr>
          <p:cNvPr id="74" name="Shape 71"/>
          <p:cNvSpPr/>
          <p:nvPr/>
        </p:nvSpPr>
        <p:spPr>
          <a:xfrm>
            <a:off x="7229475" y="4229100"/>
            <a:ext cx="1214438" cy="38860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5" name="Shape 72"/>
          <p:cNvSpPr/>
          <p:nvPr/>
        </p:nvSpPr>
        <p:spPr>
          <a:xfrm>
            <a:off x="7229475" y="4229100"/>
            <a:ext cx="1214438" cy="7144"/>
          </a:xfrm>
          <a:prstGeom prst="rect">
            <a:avLst/>
          </a:prstGeom>
          <a:solidFill>
            <a:srgbClr val="B0D5FF"/>
          </a:solidFill>
        </p:spPr>
      </p:sp>
      <p:sp>
        <p:nvSpPr>
          <p:cNvPr id="76" name="Text 73"/>
          <p:cNvSpPr/>
          <p:nvPr/>
        </p:nvSpPr>
        <p:spPr>
          <a:xfrm>
            <a:off x="7229475" y="4229100"/>
            <a:ext cx="1214438" cy="388609"/>
          </a:xfrm>
          <a:prstGeom prst="rect">
            <a:avLst/>
          </a:prstGeom>
          <a:noFill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工程目标</a:t>
            </a:r>
            <a:r>
              <a:rPr lang="en-US" sz="7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
</a:t>
            </a:r>
            <a:r>
              <a:rPr lang="en-US" sz="70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稳定实现核心闭环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52568"/>
            <a:ext cx="3461147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09 / TESTING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40091"/>
            <a:ext cx="3461147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测试验证覆盖核心流程与异常边界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582841" y="759023"/>
            <a:ext cx="3061097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FUNCTION · BOUNDARY · COMPATIBILITY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100138"/>
            <a:ext cx="8143875" cy="400050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100138"/>
            <a:ext cx="8143875" cy="7144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8" name="Shape 5"/>
          <p:cNvSpPr/>
          <p:nvPr/>
        </p:nvSpPr>
        <p:spPr>
          <a:xfrm>
            <a:off x="500063" y="1493044"/>
            <a:ext cx="814387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9" name="Text 6"/>
          <p:cNvSpPr/>
          <p:nvPr/>
        </p:nvSpPr>
        <p:spPr>
          <a:xfrm>
            <a:off x="500063" y="1100138"/>
            <a:ext cx="8143875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围绕系统核心闭环、基础功能、异常输入、性能安全与浏览器兼容性开展验证。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0063" y="1700213"/>
            <a:ext cx="5000625" cy="4429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00063" y="1700213"/>
            <a:ext cx="5000625" cy="7144"/>
          </a:xfrm>
          <a:prstGeom prst="rect">
            <a:avLst/>
          </a:prstGeom>
          <a:solidFill>
            <a:srgbClr val="98C8FF"/>
          </a:solidFill>
        </p:spPr>
      </p:sp>
      <p:sp>
        <p:nvSpPr>
          <p:cNvPr id="12" name="Shape 9"/>
          <p:cNvSpPr/>
          <p:nvPr/>
        </p:nvSpPr>
        <p:spPr>
          <a:xfrm>
            <a:off x="500063" y="2135981"/>
            <a:ext cx="50006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3" name="Text 10"/>
          <p:cNvSpPr/>
          <p:nvPr/>
        </p:nvSpPr>
        <p:spPr>
          <a:xfrm>
            <a:off x="500063" y="1813620"/>
            <a:ext cx="671513" cy="2160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71575" y="1818084"/>
            <a:ext cx="12001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核心功能测试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71725" y="1766292"/>
            <a:ext cx="2986088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验证资产发现、资产入库、风险评估、智能分析和结果展示的主流程。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0" y="1700213"/>
            <a:ext cx="9286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17" name="Shape 14"/>
          <p:cNvSpPr/>
          <p:nvPr/>
        </p:nvSpPr>
        <p:spPr>
          <a:xfrm>
            <a:off x="500063" y="2243138"/>
            <a:ext cx="5000625" cy="4429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500063" y="2243138"/>
            <a:ext cx="5000625" cy="7144"/>
          </a:xfrm>
          <a:prstGeom prst="rect">
            <a:avLst/>
          </a:prstGeom>
          <a:solidFill>
            <a:srgbClr val="98C8FF"/>
          </a:solidFill>
        </p:spPr>
      </p:sp>
      <p:sp>
        <p:nvSpPr>
          <p:cNvPr id="19" name="Shape 16"/>
          <p:cNvSpPr/>
          <p:nvPr/>
        </p:nvSpPr>
        <p:spPr>
          <a:xfrm>
            <a:off x="500063" y="2678906"/>
            <a:ext cx="50006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0" name="Text 17"/>
          <p:cNvSpPr/>
          <p:nvPr/>
        </p:nvSpPr>
        <p:spPr>
          <a:xfrm>
            <a:off x="500063" y="2356545"/>
            <a:ext cx="671513" cy="2160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T02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71575" y="2361009"/>
            <a:ext cx="12001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基础功能测试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371725" y="2309217"/>
            <a:ext cx="2986088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覆盖用户注册登录、任务提交、列表查询、详情查看和页面交互。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0" y="2243138"/>
            <a:ext cx="9286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24" name="Shape 21"/>
          <p:cNvSpPr/>
          <p:nvPr/>
        </p:nvSpPr>
        <p:spPr>
          <a:xfrm>
            <a:off x="500063" y="2786063"/>
            <a:ext cx="5000625" cy="4429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500063" y="2786063"/>
            <a:ext cx="5000625" cy="7144"/>
          </a:xfrm>
          <a:prstGeom prst="rect">
            <a:avLst/>
          </a:prstGeom>
          <a:solidFill>
            <a:srgbClr val="98C8FF"/>
          </a:solidFill>
        </p:spPr>
      </p:sp>
      <p:sp>
        <p:nvSpPr>
          <p:cNvPr id="26" name="Shape 23"/>
          <p:cNvSpPr/>
          <p:nvPr/>
        </p:nvSpPr>
        <p:spPr>
          <a:xfrm>
            <a:off x="500063" y="3221831"/>
            <a:ext cx="50006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27" name="Text 24"/>
          <p:cNvSpPr/>
          <p:nvPr/>
        </p:nvSpPr>
        <p:spPr>
          <a:xfrm>
            <a:off x="500063" y="2899470"/>
            <a:ext cx="671513" cy="2160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T03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71575" y="2903934"/>
            <a:ext cx="12001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异常边界测试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371725" y="2852142"/>
            <a:ext cx="2986088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检查空输入、非法域名、重复任务、接口异常和扫描失败场景。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0" y="2786063"/>
            <a:ext cx="9286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1" name="Shape 28"/>
          <p:cNvSpPr/>
          <p:nvPr/>
        </p:nvSpPr>
        <p:spPr>
          <a:xfrm>
            <a:off x="500063" y="3328988"/>
            <a:ext cx="5000625" cy="4429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500063" y="3328988"/>
            <a:ext cx="5000625" cy="7144"/>
          </a:xfrm>
          <a:prstGeom prst="rect">
            <a:avLst/>
          </a:prstGeom>
          <a:solidFill>
            <a:srgbClr val="98C8FF"/>
          </a:solidFill>
        </p:spPr>
      </p:sp>
      <p:sp>
        <p:nvSpPr>
          <p:cNvPr id="33" name="Shape 30"/>
          <p:cNvSpPr/>
          <p:nvPr/>
        </p:nvSpPr>
        <p:spPr>
          <a:xfrm>
            <a:off x="500063" y="3764756"/>
            <a:ext cx="50006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34" name="Text 31"/>
          <p:cNvSpPr/>
          <p:nvPr/>
        </p:nvSpPr>
        <p:spPr>
          <a:xfrm>
            <a:off x="500063" y="3442395"/>
            <a:ext cx="671513" cy="2160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T04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171575" y="3446859"/>
            <a:ext cx="12001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性能安全测试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371725" y="3395067"/>
            <a:ext cx="2986088" cy="3107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关注请求响应、密码哈希存储、权限控制和接口基础防护能力。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572000" y="3328988"/>
            <a:ext cx="9286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8" name="Shape 35"/>
          <p:cNvSpPr/>
          <p:nvPr/>
        </p:nvSpPr>
        <p:spPr>
          <a:xfrm>
            <a:off x="500063" y="3871913"/>
            <a:ext cx="5000625" cy="4429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500063" y="3871913"/>
            <a:ext cx="5000625" cy="7144"/>
          </a:xfrm>
          <a:prstGeom prst="rect">
            <a:avLst/>
          </a:prstGeom>
          <a:solidFill>
            <a:srgbClr val="98C8FF"/>
          </a:solidFill>
        </p:spPr>
      </p:sp>
      <p:sp>
        <p:nvSpPr>
          <p:cNvPr id="40" name="Shape 37"/>
          <p:cNvSpPr/>
          <p:nvPr/>
        </p:nvSpPr>
        <p:spPr>
          <a:xfrm>
            <a:off x="500063" y="4307681"/>
            <a:ext cx="500062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1" name="Text 38"/>
          <p:cNvSpPr/>
          <p:nvPr/>
        </p:nvSpPr>
        <p:spPr>
          <a:xfrm>
            <a:off x="500063" y="3985320"/>
            <a:ext cx="671513" cy="2160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T05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1171575" y="3989784"/>
            <a:ext cx="120015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兼容性测试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2371725" y="4015680"/>
            <a:ext cx="2986088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在主流浏览器环境下验证页面渲染、图表展示与交互一致性。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572000" y="3871913"/>
            <a:ext cx="9286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45" name="Shape 42"/>
          <p:cNvSpPr/>
          <p:nvPr/>
        </p:nvSpPr>
        <p:spPr>
          <a:xfrm>
            <a:off x="5786438" y="1700213"/>
            <a:ext cx="2857500" cy="2636044"/>
          </a:xfrm>
          <a:prstGeom prst="rect">
            <a:avLst/>
          </a:prstGeom>
          <a:solidFill>
            <a:srgbClr val="EEF7FF">
              <a:alpha val="76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5786438" y="1700213"/>
            <a:ext cx="2857500" cy="14288"/>
          </a:xfrm>
          <a:prstGeom prst="rect">
            <a:avLst/>
          </a:prstGeom>
          <a:solidFill>
            <a:srgbClr val="7DBAFF"/>
          </a:solidFill>
        </p:spPr>
      </p:sp>
      <p:sp>
        <p:nvSpPr>
          <p:cNvPr id="47" name="Shape 44"/>
          <p:cNvSpPr/>
          <p:nvPr/>
        </p:nvSpPr>
        <p:spPr>
          <a:xfrm>
            <a:off x="5786438" y="4329113"/>
            <a:ext cx="2857500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48" name="Text 45"/>
          <p:cNvSpPr/>
          <p:nvPr/>
        </p:nvSpPr>
        <p:spPr>
          <a:xfrm>
            <a:off x="6000750" y="1871663"/>
            <a:ext cx="2643188" cy="2482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验证路径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000750" y="2191345"/>
            <a:ext cx="23431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通过功能用例、异常用例和浏览器环境测试，确认系统能够稳定完成资产风险分析闭环。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386513" y="2457450"/>
            <a:ext cx="1928813" cy="328613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6386513" y="2457450"/>
            <a:ext cx="1928813" cy="7144"/>
          </a:xfrm>
          <a:prstGeom prst="rect">
            <a:avLst/>
          </a:prstGeom>
          <a:solidFill>
            <a:srgbClr val="AED4FF"/>
          </a:solidFill>
        </p:spPr>
      </p:sp>
      <p:sp>
        <p:nvSpPr>
          <p:cNvPr id="52" name="Shape 49"/>
          <p:cNvSpPr/>
          <p:nvPr/>
        </p:nvSpPr>
        <p:spPr>
          <a:xfrm>
            <a:off x="6386513" y="2778919"/>
            <a:ext cx="1928813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53" name="Text 50"/>
          <p:cNvSpPr/>
          <p:nvPr/>
        </p:nvSpPr>
        <p:spPr>
          <a:xfrm>
            <a:off x="6686550" y="2526209"/>
            <a:ext cx="485775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流程连通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7258050" y="2542282"/>
            <a:ext cx="892969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发现 → 分析 → 展示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6386513" y="2871788"/>
            <a:ext cx="1928813" cy="328613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56" name="Shape 53"/>
          <p:cNvSpPr/>
          <p:nvPr/>
        </p:nvSpPr>
        <p:spPr>
          <a:xfrm>
            <a:off x="6386513" y="2871788"/>
            <a:ext cx="1928813" cy="7144"/>
          </a:xfrm>
          <a:prstGeom prst="rect">
            <a:avLst/>
          </a:prstGeom>
          <a:solidFill>
            <a:srgbClr val="AED4FF"/>
          </a:solidFill>
        </p:spPr>
      </p:sp>
      <p:sp>
        <p:nvSpPr>
          <p:cNvPr id="57" name="Shape 54"/>
          <p:cNvSpPr/>
          <p:nvPr/>
        </p:nvSpPr>
        <p:spPr>
          <a:xfrm>
            <a:off x="6386513" y="3193256"/>
            <a:ext cx="1928813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58" name="Text 55"/>
          <p:cNvSpPr/>
          <p:nvPr/>
        </p:nvSpPr>
        <p:spPr>
          <a:xfrm>
            <a:off x="6686550" y="2940546"/>
            <a:ext cx="485775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边界可控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258050" y="2956620"/>
            <a:ext cx="700088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异常输入可反馈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6386513" y="3286125"/>
            <a:ext cx="1928813" cy="328613"/>
          </a:xfrm>
          <a:prstGeom prst="rect">
            <a:avLst/>
          </a:prstGeom>
          <a:solidFill>
            <a:srgbClr val="FFFFFF">
              <a:alpha val="82000"/>
            </a:srgbClr>
          </a:solidFill>
        </p:spPr>
      </p:sp>
      <p:sp>
        <p:nvSpPr>
          <p:cNvPr id="61" name="Shape 58"/>
          <p:cNvSpPr/>
          <p:nvPr/>
        </p:nvSpPr>
        <p:spPr>
          <a:xfrm>
            <a:off x="6386513" y="3286125"/>
            <a:ext cx="1928813" cy="7144"/>
          </a:xfrm>
          <a:prstGeom prst="rect">
            <a:avLst/>
          </a:prstGeom>
          <a:solidFill>
            <a:srgbClr val="AED4FF"/>
          </a:solidFill>
        </p:spPr>
      </p:sp>
      <p:sp>
        <p:nvSpPr>
          <p:cNvPr id="62" name="Shape 59"/>
          <p:cNvSpPr/>
          <p:nvPr/>
        </p:nvSpPr>
        <p:spPr>
          <a:xfrm>
            <a:off x="6386513" y="3607594"/>
            <a:ext cx="1928813" cy="7144"/>
          </a:xfrm>
          <a:prstGeom prst="rect">
            <a:avLst/>
          </a:prstGeom>
          <a:solidFill>
            <a:srgbClr val="DBECFF"/>
          </a:solidFill>
        </p:spPr>
      </p:sp>
      <p:sp>
        <p:nvSpPr>
          <p:cNvPr id="63" name="Text 60"/>
          <p:cNvSpPr/>
          <p:nvPr/>
        </p:nvSpPr>
        <p:spPr>
          <a:xfrm>
            <a:off x="6686550" y="3354884"/>
            <a:ext cx="485775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结果一致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7258050" y="3370957"/>
            <a:ext cx="700088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数据与页面同步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6000750" y="3843338"/>
            <a:ext cx="2371725" cy="314325"/>
          </a:xfrm>
          <a:prstGeom prst="rect">
            <a:avLst/>
          </a:prstGeom>
          <a:solidFill>
            <a:srgbClr val="EEF7FF">
              <a:alpha val="90000"/>
            </a:srgbClr>
          </a:solidFill>
        </p:spPr>
      </p:sp>
      <p:sp>
        <p:nvSpPr>
          <p:cNvPr id="66" name="Shape 63"/>
          <p:cNvSpPr/>
          <p:nvPr/>
        </p:nvSpPr>
        <p:spPr>
          <a:xfrm>
            <a:off x="6000750" y="3843338"/>
            <a:ext cx="237172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67" name="Shape 64"/>
          <p:cNvSpPr/>
          <p:nvPr/>
        </p:nvSpPr>
        <p:spPr>
          <a:xfrm>
            <a:off x="6000750" y="4150519"/>
            <a:ext cx="237172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68" name="Text 65"/>
          <p:cNvSpPr/>
          <p:nvPr/>
        </p:nvSpPr>
        <p:spPr>
          <a:xfrm>
            <a:off x="6000750" y="3843338"/>
            <a:ext cx="2371725" cy="3143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测试结论：核心闭环可用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500063" y="4557713"/>
            <a:ext cx="8143875" cy="564356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70" name="Shape 67"/>
          <p:cNvSpPr/>
          <p:nvPr/>
        </p:nvSpPr>
        <p:spPr>
          <a:xfrm>
            <a:off x="500063" y="4557713"/>
            <a:ext cx="8143875" cy="14288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71" name="Shape 68"/>
          <p:cNvSpPr/>
          <p:nvPr/>
        </p:nvSpPr>
        <p:spPr>
          <a:xfrm>
            <a:off x="500063" y="5114925"/>
            <a:ext cx="814387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72" name="Text 69"/>
          <p:cNvSpPr/>
          <p:nvPr/>
        </p:nvSpPr>
        <p:spPr>
          <a:xfrm>
            <a:off x="500063" y="4710410"/>
            <a:ext cx="1500188" cy="237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验证结论</a:t>
            </a:r>
            <a:endParaRPr lang="en-US" sz="1150" dirty="0"/>
          </a:p>
        </p:txBody>
      </p:sp>
      <p:sp>
        <p:nvSpPr>
          <p:cNvPr id="73" name="Text 70"/>
          <p:cNvSpPr/>
          <p:nvPr/>
        </p:nvSpPr>
        <p:spPr>
          <a:xfrm>
            <a:off x="2000250" y="4727377"/>
            <a:ext cx="6643688" cy="2035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系统能够完成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资产发现</a:t>
            </a:r>
            <a:r>
              <a:rPr lang="en-US" sz="10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、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风险评估</a:t>
            </a:r>
            <a:r>
              <a:rPr lang="en-US" sz="10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、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智能分析</a:t>
            </a:r>
            <a:r>
              <a:rPr lang="en-US" sz="10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和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可视化展示</a:t>
            </a:r>
            <a:r>
              <a:rPr lang="en-US" sz="100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等关键流程，满足毕业设计实现要求。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52568"/>
            <a:ext cx="3922644" cy="1875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3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10 / SUMMARY &amp; OUTLOOK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0063" y="640091"/>
            <a:ext cx="3922644" cy="274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系统实现形成核心成果并具备扩展空间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88286" y="759023"/>
            <a:ext cx="2355652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ACHIEVEMENTS · FUTURE WORK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00063" y="1100138"/>
            <a:ext cx="8143875" cy="400050"/>
          </a:xfrm>
          <a:prstGeom prst="rect">
            <a:avLst/>
          </a:prstGeom>
          <a:solidFill>
            <a:srgbClr val="EEF7FF">
              <a:alpha val="74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500063" y="1100138"/>
            <a:ext cx="8143875" cy="7144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8" name="Shape 5"/>
          <p:cNvSpPr/>
          <p:nvPr/>
        </p:nvSpPr>
        <p:spPr>
          <a:xfrm>
            <a:off x="500063" y="1493044"/>
            <a:ext cx="8143875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9" name="Text 6"/>
          <p:cNvSpPr/>
          <p:nvPr/>
        </p:nvSpPr>
        <p:spPr>
          <a:xfrm>
            <a:off x="500063" y="1100138"/>
            <a:ext cx="8143875" cy="4000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本研究完成互联网资产发现、风险评估、智能分析与可视化展示的一体化系统实现。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0063" y="1714500"/>
            <a:ext cx="4643438" cy="321469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00063" y="1714500"/>
            <a:ext cx="4643438" cy="14288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12" name="Shape 9"/>
          <p:cNvSpPr/>
          <p:nvPr/>
        </p:nvSpPr>
        <p:spPr>
          <a:xfrm>
            <a:off x="500063" y="2028825"/>
            <a:ext cx="464343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13" name="Text 10"/>
          <p:cNvSpPr/>
          <p:nvPr/>
        </p:nvSpPr>
        <p:spPr>
          <a:xfrm>
            <a:off x="657225" y="1751112"/>
            <a:ext cx="6858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核心成果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57325" y="1797546"/>
            <a:ext cx="892969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KEY OUTPUTS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00063" y="2143125"/>
            <a:ext cx="2257425" cy="10144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500063" y="2143125"/>
            <a:ext cx="225742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17" name="Shape 14"/>
          <p:cNvSpPr/>
          <p:nvPr/>
        </p:nvSpPr>
        <p:spPr>
          <a:xfrm>
            <a:off x="500063" y="3150394"/>
            <a:ext cx="225742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18" name="Text 15"/>
          <p:cNvSpPr/>
          <p:nvPr/>
        </p:nvSpPr>
        <p:spPr>
          <a:xfrm>
            <a:off x="642938" y="2257425"/>
            <a:ext cx="211455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2938" y="2541389"/>
            <a:ext cx="1971675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资产发现闭环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2938" y="2805708"/>
            <a:ext cx="1971675" cy="3100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实现主动探测、被动情报融合、资产去重验证与统一入库。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057400" y="2143125"/>
            <a:ext cx="7000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22" name="Shape 19"/>
          <p:cNvSpPr/>
          <p:nvPr/>
        </p:nvSpPr>
        <p:spPr>
          <a:xfrm>
            <a:off x="2886075" y="2143125"/>
            <a:ext cx="2257425" cy="10144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2886075" y="2143125"/>
            <a:ext cx="225742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24" name="Shape 21"/>
          <p:cNvSpPr/>
          <p:nvPr/>
        </p:nvSpPr>
        <p:spPr>
          <a:xfrm>
            <a:off x="2886075" y="3150394"/>
            <a:ext cx="225742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25" name="Text 22"/>
          <p:cNvSpPr/>
          <p:nvPr/>
        </p:nvSpPr>
        <p:spPr>
          <a:xfrm>
            <a:off x="3028950" y="2257425"/>
            <a:ext cx="211455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028950" y="2541389"/>
            <a:ext cx="1971675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风险评估机制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028950" y="2805708"/>
            <a:ext cx="1971675" cy="3100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基于资产特征与规则评分输出风险等级、原因和整改建议。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443413" y="2143125"/>
            <a:ext cx="7000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29" name="Shape 26"/>
          <p:cNvSpPr/>
          <p:nvPr/>
        </p:nvSpPr>
        <p:spPr>
          <a:xfrm>
            <a:off x="500063" y="3286125"/>
            <a:ext cx="2257425" cy="10144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500063" y="3286125"/>
            <a:ext cx="225742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31" name="Shape 28"/>
          <p:cNvSpPr/>
          <p:nvPr/>
        </p:nvSpPr>
        <p:spPr>
          <a:xfrm>
            <a:off x="500063" y="4293394"/>
            <a:ext cx="225742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32" name="Text 29"/>
          <p:cNvSpPr/>
          <p:nvPr/>
        </p:nvSpPr>
        <p:spPr>
          <a:xfrm>
            <a:off x="642938" y="3400425"/>
            <a:ext cx="211455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2938" y="3684389"/>
            <a:ext cx="102108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机器学习</a:t>
            </a: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分析能力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2938" y="3948708"/>
            <a:ext cx="1971675" cy="3100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引入CVE匹配、TF-IDF特征与随机森林模型辅助判断漏洞严重程度。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057400" y="3286125"/>
            <a:ext cx="7000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36" name="Shape 33"/>
          <p:cNvSpPr/>
          <p:nvPr/>
        </p:nvSpPr>
        <p:spPr>
          <a:xfrm>
            <a:off x="2886075" y="3286125"/>
            <a:ext cx="2257425" cy="1014413"/>
          </a:xfrm>
          <a:prstGeom prst="rect">
            <a:avLst/>
          </a:prstGeom>
          <a:solidFill>
            <a:srgbClr val="FFFFFF">
              <a:alpha val="8600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2886075" y="3286125"/>
            <a:ext cx="225742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38" name="Shape 35"/>
          <p:cNvSpPr/>
          <p:nvPr/>
        </p:nvSpPr>
        <p:spPr>
          <a:xfrm>
            <a:off x="2886075" y="4293394"/>
            <a:ext cx="225742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39" name="Text 36"/>
          <p:cNvSpPr/>
          <p:nvPr/>
        </p:nvSpPr>
        <p:spPr>
          <a:xfrm>
            <a:off x="3028950" y="3400425"/>
            <a:ext cx="2114550" cy="226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028950" y="3684389"/>
            <a:ext cx="1971675" cy="17859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工程化平台实现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028950" y="3948708"/>
            <a:ext cx="1971675" cy="3100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完成前后端分离、数据库持久化、图表展示与核心流程测试验证。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4443413" y="3286125"/>
            <a:ext cx="700088" cy="7144"/>
          </a:xfrm>
          <a:prstGeom prst="rect">
            <a:avLst/>
          </a:prstGeom>
          <a:solidFill>
            <a:srgbClr val="1E88FF"/>
          </a:solidFill>
        </p:spPr>
      </p:sp>
      <p:sp>
        <p:nvSpPr>
          <p:cNvPr id="43" name="Shape 40"/>
          <p:cNvSpPr/>
          <p:nvPr/>
        </p:nvSpPr>
        <p:spPr>
          <a:xfrm>
            <a:off x="5429250" y="1714500"/>
            <a:ext cx="3214688" cy="321469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44" name="Shape 41"/>
          <p:cNvSpPr/>
          <p:nvPr/>
        </p:nvSpPr>
        <p:spPr>
          <a:xfrm>
            <a:off x="5429250" y="1714500"/>
            <a:ext cx="3214688" cy="14288"/>
          </a:xfrm>
          <a:prstGeom prst="rect">
            <a:avLst/>
          </a:prstGeom>
          <a:solidFill>
            <a:srgbClr val="83BEFF"/>
          </a:solidFill>
        </p:spPr>
      </p:sp>
      <p:sp>
        <p:nvSpPr>
          <p:cNvPr id="45" name="Shape 42"/>
          <p:cNvSpPr/>
          <p:nvPr/>
        </p:nvSpPr>
        <p:spPr>
          <a:xfrm>
            <a:off x="5429250" y="2028825"/>
            <a:ext cx="3214688" cy="7144"/>
          </a:xfrm>
          <a:prstGeom prst="rect">
            <a:avLst/>
          </a:prstGeom>
          <a:solidFill>
            <a:srgbClr val="D7EAFF"/>
          </a:solidFill>
        </p:spPr>
      </p:sp>
      <p:sp>
        <p:nvSpPr>
          <p:cNvPr id="46" name="Text 43"/>
          <p:cNvSpPr/>
          <p:nvPr/>
        </p:nvSpPr>
        <p:spPr>
          <a:xfrm>
            <a:off x="5586413" y="1751112"/>
            <a:ext cx="68580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未来展望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386513" y="1797546"/>
            <a:ext cx="510778" cy="1339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FUTURE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5429250" y="2143125"/>
            <a:ext cx="3214688" cy="21717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49" name="Shape 46"/>
          <p:cNvSpPr/>
          <p:nvPr/>
        </p:nvSpPr>
        <p:spPr>
          <a:xfrm>
            <a:off x="5429250" y="2143125"/>
            <a:ext cx="3214688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50" name="Shape 47"/>
          <p:cNvSpPr/>
          <p:nvPr/>
        </p:nvSpPr>
        <p:spPr>
          <a:xfrm>
            <a:off x="5429250" y="4307681"/>
            <a:ext cx="3214688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51" name="Text 48"/>
          <p:cNvSpPr/>
          <p:nvPr/>
        </p:nvSpPr>
        <p:spPr>
          <a:xfrm>
            <a:off x="6015038" y="2433340"/>
            <a:ext cx="671513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真实环境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686550" y="2376748"/>
            <a:ext cx="1600200" cy="289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提升复杂网络与大规模资产场景适配能力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6015038" y="2876252"/>
            <a:ext cx="43434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CN" alt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扫描提速</a:t>
            </a:r>
            <a:endParaRPr lang="zh-CN" altLang="en-US" sz="850" b="1" dirty="0">
              <a:solidFill>
                <a:srgbClr val="0A2A66"/>
              </a:solidFill>
              <a:latin typeface="Noto Sans SC Black" panose="020B0200000000000000" pitchFamily="34" charset="-122"/>
              <a:ea typeface="Noto Sans SC Black" panose="020B0200000000000000" pitchFamily="34" charset="-122"/>
              <a:cs typeface="Noto Sans SC Black" panose="020B0200000000000000" pitchFamily="34" charset="-12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686550" y="2819660"/>
            <a:ext cx="1600200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提高当前平台的扫描速率</a:t>
            </a:r>
            <a:endParaRPr lang="zh-CN" altLang="en-US" sz="750" dirty="0">
              <a:solidFill>
                <a:srgbClr val="183B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pitchFamily="34" charset="-12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015038" y="3319165"/>
            <a:ext cx="671513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组件识别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686550" y="3262573"/>
            <a:ext cx="1600200" cy="289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增强指纹识别、版本识别与漏洞关联能力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6015038" y="3762077"/>
            <a:ext cx="671513" cy="1768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报告生成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6686550" y="3705485"/>
            <a:ext cx="1600200" cy="2899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dirty="0">
                <a:solidFill>
                  <a:srgbClr val="183B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pitchFamily="34" charset="-120"/>
              </a:rPr>
              <a:t>优化自动化报告、整改跟踪与运营闭环能力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500063" y="4586288"/>
            <a:ext cx="8143875" cy="535781"/>
          </a:xfrm>
          <a:prstGeom prst="rect">
            <a:avLst/>
          </a:prstGeom>
          <a:solidFill>
            <a:srgbClr val="FFFFFF">
              <a:alpha val="76000"/>
            </a:srgbClr>
          </a:solidFill>
        </p:spPr>
      </p:sp>
      <p:sp>
        <p:nvSpPr>
          <p:cNvPr id="60" name="Shape 57"/>
          <p:cNvSpPr/>
          <p:nvPr/>
        </p:nvSpPr>
        <p:spPr>
          <a:xfrm>
            <a:off x="500063" y="4586288"/>
            <a:ext cx="8143875" cy="14288"/>
          </a:xfrm>
          <a:prstGeom prst="rect">
            <a:avLst/>
          </a:prstGeom>
          <a:solidFill>
            <a:srgbClr val="B2D7FF"/>
          </a:solidFill>
        </p:spPr>
      </p:sp>
      <p:sp>
        <p:nvSpPr>
          <p:cNvPr id="61" name="Shape 58"/>
          <p:cNvSpPr/>
          <p:nvPr/>
        </p:nvSpPr>
        <p:spPr>
          <a:xfrm>
            <a:off x="500063" y="5114925"/>
            <a:ext cx="814387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62" name="Text 59"/>
          <p:cNvSpPr/>
          <p:nvPr/>
        </p:nvSpPr>
        <p:spPr>
          <a:xfrm>
            <a:off x="500063" y="4724698"/>
            <a:ext cx="1643063" cy="237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b="1" kern="0" spc="2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总结结论</a:t>
            </a:r>
            <a:endParaRPr lang="en-US" sz="1150" dirty="0"/>
          </a:p>
        </p:txBody>
      </p:sp>
      <p:sp>
        <p:nvSpPr>
          <p:cNvPr id="63" name="Text 60"/>
          <p:cNvSpPr/>
          <p:nvPr/>
        </p:nvSpPr>
        <p:spPr>
          <a:xfrm>
            <a:off x="2143125" y="4741664"/>
            <a:ext cx="6500813" cy="2035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系统已形成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发现—评估—解释—展示</a:t>
            </a:r>
            <a:r>
              <a:rPr lang="en-US" sz="950" b="1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的核心闭环，为互联网暴露面治理提供实现基础。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900113"/>
            <a:ext cx="1785938" cy="301823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6" dirty="0">
                <a:solidFill>
                  <a:srgbClr val="1E88FF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毕业论文答辩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57213" y="1716286"/>
            <a:ext cx="4643438" cy="6326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4250" b="1" kern="0" spc="3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谢谢聆听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557213" y="2534664"/>
            <a:ext cx="4643438" cy="2700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2" dirty="0">
                <a:solidFill>
                  <a:srgbClr val="1E88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THANK YOU FOR LISTENING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7213" y="3004700"/>
            <a:ext cx="2794000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2000" dirty="0">
                <a:solidFill>
                  <a:srgbClr val="183B63"/>
                </a:solidFill>
                <a:latin typeface="Noto Sans SC Medium" panose="020B0200000000000000" pitchFamily="34" charset="-122"/>
                <a:ea typeface="Noto Sans SC Medium" panose="020B0200000000000000" pitchFamily="34" charset="-122"/>
                <a:cs typeface="Noto Sans SC Medium" panose="020B0200000000000000" pitchFamily="34" charset="-120"/>
              </a:rPr>
              <a:t>恳请各位老师批评指正。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57213" y="3702276"/>
            <a:ext cx="1357313" cy="371475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557213" y="3702276"/>
            <a:ext cx="1357313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9" name="Shape 6"/>
          <p:cNvSpPr/>
          <p:nvPr/>
        </p:nvSpPr>
        <p:spPr>
          <a:xfrm>
            <a:off x="557213" y="4066608"/>
            <a:ext cx="1357313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10" name="Text 7"/>
          <p:cNvSpPr/>
          <p:nvPr/>
        </p:nvSpPr>
        <p:spPr>
          <a:xfrm>
            <a:off x="557213" y="3795939"/>
            <a:ext cx="1357313" cy="1841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答辩人： </a:t>
            </a:r>
            <a:r>
              <a:rPr lang="zh-CN" altLang="en-US" sz="1200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林秋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4538" y="3702276"/>
            <a:ext cx="1571625" cy="371475"/>
          </a:xfrm>
          <a:prstGeom prst="rect">
            <a:avLst/>
          </a:prstGeom>
          <a:solidFill>
            <a:srgbClr val="EEF7FF">
              <a:alpha val="78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2014538" y="3702276"/>
            <a:ext cx="1571625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13" name="Shape 10"/>
          <p:cNvSpPr/>
          <p:nvPr/>
        </p:nvSpPr>
        <p:spPr>
          <a:xfrm>
            <a:off x="2014538" y="4066608"/>
            <a:ext cx="1571625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14" name="Text 11"/>
          <p:cNvSpPr/>
          <p:nvPr/>
        </p:nvSpPr>
        <p:spPr>
          <a:xfrm>
            <a:off x="2014538" y="3795939"/>
            <a:ext cx="1571625" cy="1841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指导教师：</a:t>
            </a:r>
            <a:r>
              <a:rPr lang="zh-CN" altLang="en-US" sz="1200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马修湖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86175" y="3702276"/>
            <a:ext cx="1357313" cy="371475"/>
          </a:xfrm>
          <a:prstGeom prst="rect">
            <a:avLst/>
          </a:prstGeom>
          <a:solidFill>
            <a:srgbClr val="EEF7FF">
              <a:alpha val="78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686175" y="3702276"/>
            <a:ext cx="1357313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17" name="Shape 14"/>
          <p:cNvSpPr/>
          <p:nvPr/>
        </p:nvSpPr>
        <p:spPr>
          <a:xfrm>
            <a:off x="3686175" y="4066608"/>
            <a:ext cx="1357313" cy="7144"/>
          </a:xfrm>
          <a:prstGeom prst="rect">
            <a:avLst/>
          </a:prstGeom>
          <a:solidFill>
            <a:srgbClr val="D2E7FF"/>
          </a:solidFill>
        </p:spPr>
      </p:sp>
      <p:sp>
        <p:nvSpPr>
          <p:cNvPr id="18" name="Text 15"/>
          <p:cNvSpPr/>
          <p:nvPr/>
        </p:nvSpPr>
        <p:spPr>
          <a:xfrm>
            <a:off x="3686175" y="3795939"/>
            <a:ext cx="1357313" cy="1841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3B6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日期：05/24</a:t>
            </a:r>
            <a:endParaRPr lang="zh-CN" altLang="en-US" sz="1200" dirty="0">
              <a:solidFill>
                <a:srgbClr val="183B63"/>
              </a:solidFill>
              <a:latin typeface="Noto Sans SC Bold" pitchFamily="34" charset="0"/>
              <a:ea typeface="Noto Sans SC Bold" pitchFamily="34" charset="-122"/>
              <a:cs typeface="Noto Sans SC Bold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543550" y="1014413"/>
            <a:ext cx="2586038" cy="2586038"/>
          </a:xfrm>
          <a:prstGeom prst="ellipse">
            <a:avLst/>
          </a:prstGeom>
          <a:solidFill>
            <a:srgbClr val="FFFFFF">
              <a:alpha val="0"/>
            </a:srgbClr>
          </a:solidFill>
          <a:ln w="9144">
            <a:solidFill>
              <a:srgbClr val="1E88FF">
                <a:alpha val="4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72163" y="1343025"/>
            <a:ext cx="1914525" cy="1914525"/>
          </a:xfrm>
          <a:prstGeom prst="ellipse">
            <a:avLst/>
          </a:prstGeom>
          <a:solidFill>
            <a:srgbClr val="000000">
              <a:alpha val="0"/>
            </a:srgbClr>
          </a:solidFill>
          <a:ln w="9144">
            <a:solidFill>
              <a:srgbClr val="0A2A66">
                <a:alpha val="30000"/>
              </a:srgbClr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15088" y="1885950"/>
            <a:ext cx="828675" cy="828675"/>
          </a:xfrm>
          <a:prstGeom prst="ellipse">
            <a:avLst/>
          </a:prstGeom>
          <a:solidFill>
            <a:srgbClr val="FFFFFF">
              <a:alpha val="60000"/>
            </a:srgbClr>
          </a:solidFill>
          <a:ln w="9144">
            <a:solidFill>
              <a:srgbClr val="1E88FF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43550" y="1014413"/>
            <a:ext cx="2586038" cy="2586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500688" y="3914775"/>
            <a:ext cx="2750344" cy="428625"/>
          </a:xfrm>
          <a:prstGeom prst="rect">
            <a:avLst/>
          </a:prstGeom>
          <a:solidFill>
            <a:srgbClr val="EEF7FF">
              <a:alpha val="86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5500688" y="3914775"/>
            <a:ext cx="2750344" cy="7144"/>
          </a:xfrm>
          <a:prstGeom prst="rect">
            <a:avLst/>
          </a:prstGeom>
          <a:solidFill>
            <a:srgbClr val="A1CDFF"/>
          </a:solidFill>
        </p:spPr>
      </p:sp>
      <p:sp>
        <p:nvSpPr>
          <p:cNvPr id="25" name="Shape 22"/>
          <p:cNvSpPr/>
          <p:nvPr/>
        </p:nvSpPr>
        <p:spPr>
          <a:xfrm>
            <a:off x="5500688" y="4336256"/>
            <a:ext cx="2750344" cy="7144"/>
          </a:xfrm>
          <a:prstGeom prst="rect">
            <a:avLst/>
          </a:prstGeom>
          <a:solidFill>
            <a:srgbClr val="CEE5FF"/>
          </a:solidFill>
        </p:spPr>
      </p:sp>
      <p:sp>
        <p:nvSpPr>
          <p:cNvPr id="26" name="Text 23"/>
          <p:cNvSpPr/>
          <p:nvPr/>
        </p:nvSpPr>
        <p:spPr>
          <a:xfrm>
            <a:off x="5500688" y="3914775"/>
            <a:ext cx="2750344" cy="4286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50" b="1" kern="0" spc="3" dirty="0">
                <a:solidFill>
                  <a:srgbClr val="0A2A66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Noto Sans SC Black" panose="020B0200000000000000" pitchFamily="34" charset="-120"/>
              </a:rPr>
              <a:t>ASSET SECURITY DEFENSE</a:t>
            </a:r>
            <a:endParaRPr lang="en-US" sz="9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5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6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7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8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9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0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1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2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3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4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5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6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7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8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19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0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1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2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3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4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5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6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7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8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29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0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1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2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3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4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5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6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7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8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39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0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1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2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3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4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ags/tag45.xml><?xml version="1.0" encoding="utf-8"?>
<p:tagLst xmlns:p="http://schemas.openxmlformats.org/presentationml/2006/main">
  <p:tag name="KSO_WM_DIAGRAM_VIRTUALLY_FRAME" val="{&quot;height&quot;:187.87503937007878,&quot;left&quot;:39.37503937007874,&quot;top&quot;:140.6250393700787,&quot;width&quot;:641.24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4147</Words>
  <Application>WPS 演示</Application>
  <PresentationFormat>On-screen Show (16:9)</PresentationFormat>
  <Paragraphs>583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Noto Sans SC Bold</vt:lpstr>
      <vt:lpstr>Noto Sans SC</vt:lpstr>
      <vt:lpstr>Noto Sans SC Bold</vt:lpstr>
      <vt:lpstr>Noto Sans SC Bold</vt:lpstr>
      <vt:lpstr>Noto Sans SC Black</vt:lpstr>
      <vt:lpstr>Noto Sans SC Black</vt:lpstr>
      <vt:lpstr>Noto Sans SC Medium</vt:lpstr>
      <vt:lpstr>Noto Sans SC Medium</vt:lpstr>
      <vt:lpstr>Noto Sans SC</vt:lpstr>
      <vt:lpstr>Calibri</vt:lpstr>
      <vt:lpstr>微软雅黑</vt:lpstr>
      <vt:lpstr>Arial Unicode MS</vt:lpstr>
      <vt:lpstr>等线</vt:lpstr>
      <vt:lpstr>Wonder Sans Bold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慢热</cp:lastModifiedBy>
  <cp:revision>4</cp:revision>
  <dcterms:created xsi:type="dcterms:W3CDTF">2026-05-23T06:34:00Z</dcterms:created>
  <dcterms:modified xsi:type="dcterms:W3CDTF">2026-05-23T16:39:13Z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389FD7439160481BBA9404FF32647038_12</vt:lpwstr>
  </property>
</Properties>
</file>